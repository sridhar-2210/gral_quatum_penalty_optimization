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89" r:id="rId3"/>
    <p:sldId id="301" r:id="rId4"/>
    <p:sldId id="302" r:id="rId5"/>
    <p:sldId id="290" r:id="rId6"/>
    <p:sldId id="292" r:id="rId7"/>
    <p:sldId id="291" r:id="rId8"/>
    <p:sldId id="299" r:id="rId9"/>
    <p:sldId id="293" r:id="rId10"/>
    <p:sldId id="303" r:id="rId18"/>
    <p:sldId id="297" r:id="rId11"/>
    <p:sldId id="29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010" autoAdjust="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FFFB8-1DD6-4435-808E-1D76E7AD0590}"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A09-5F36-416A-89C0-E370DBF6CA5C}" type="slidenum">
              <a:rPr lang="en-IN" smtClean="0"/>
              <a:t>‹#›</a:t>
            </a:fld>
            <a:endParaRPr lang="en-IN"/>
          </a:p>
        </p:txBody>
      </p:sp>
    </p:spTree>
    <p:extLst>
      <p:ext uri="{BB962C8B-B14F-4D97-AF65-F5344CB8AC3E}">
        <p14:creationId xmlns:p14="http://schemas.microsoft.com/office/powerpoint/2010/main" val="1336730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My honours project is on hybrid classical-quantum algorithms for combinatorial optimization. The method I built is called GRAL. In one line: quantum solvers need every rule of a problem written as a penalty, and GRAL is a trained AI that sets a separate penalty for every rule while the solver is running.</a:t>
            </a:r>
          </a:p>
        </p:txBody>
      </p:sp>
      <p:sp>
        <p:nvSpPr>
          <p:cNvPr id="4" name="Slide Number Placeholder 3"/>
          <p:cNvSpPr>
            <a:spLocks noGrp="1"/>
          </p:cNvSpPr>
          <p:nvPr>
            <p:ph type="sldNum" sz="quarter" idx="10"/>
          </p:nvPr>
        </p:nvSpPr>
        <p:spPr/>
        <p:txBody>
          <a:bodyPr/>
          <a:lstStyle/>
          <a:p>
            <a:fld id="{BE61D291-DE50-423F-BFE9-871A4A9E5541}" type="slidenum">
              <a:rPr lang="en-US" smtClean="0"/>
              <a:t>1</a:t>
            </a:fld>
            <a:endParaRPr lang="en-US"/>
          </a:p>
        </p:txBody>
      </p:sp>
    </p:spTree>
    <p:extLst>
      <p:ext uri="{BB962C8B-B14F-4D97-AF65-F5344CB8AC3E}">
        <p14:creationId xmlns:p14="http://schemas.microsoft.com/office/powerpoint/2010/main" val="159553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parts of my talk. Slide 8, work done so far, shows the results I already have.</a:t>
            </a:r>
          </a:p>
        </p:txBody>
      </p:sp>
      <p:sp>
        <p:nvSpPr>
          <p:cNvPr id="4" name="Slide Number Placeholder 3"/>
          <p:cNvSpPr>
            <a:spLocks noGrp="1"/>
          </p:cNvSpPr>
          <p:nvPr>
            <p:ph type="sldNum" sz="quarter" idx="10"/>
          </p:nvPr>
        </p:nvSpPr>
        <p:spPr/>
        <p:txBody>
          <a:bodyPr/>
          <a:lstStyle/>
          <a:p>
            <a:fld id="{BE61D291-DE50-423F-BFE9-871A4A9E5541}" type="slidenum">
              <a:rPr lang="en-US" smtClean="0"/>
              <a:t>2</a:t>
            </a:fld>
            <a:endParaRPr lang="en-US"/>
          </a:p>
        </p:txBody>
      </p:sp>
    </p:spTree>
    <p:extLst>
      <p:ext uri="{BB962C8B-B14F-4D97-AF65-F5344CB8AC3E}">
        <p14:creationId xmlns:p14="http://schemas.microsoft.com/office/powerpoint/2010/main" val="2561558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real problems, like delivery routes, are combinatorial optimisation problems. TSP is the standard example. Quantum solvers like QAOA cannot handle rules directly; they need a QUBO, which is just an energy over zeros and ones. So each rule becomes a penalty term with a weight called lambda. Choosing these weights decides whether the answer is valid and good.</a:t>
            </a:r>
          </a:p>
        </p:txBody>
      </p:sp>
      <p:sp>
        <p:nvSpPr>
          <p:cNvPr id="4" name="Slide Number Placeholder 3"/>
          <p:cNvSpPr>
            <a:spLocks noGrp="1"/>
          </p:cNvSpPr>
          <p:nvPr>
            <p:ph type="sldNum" sz="quarter" idx="10"/>
          </p:nvPr>
        </p:nvSpPr>
        <p:spPr/>
        <p:txBody>
          <a:bodyPr/>
          <a:lstStyle/>
          <a:p>
            <a:fld id="{BE61D291-DE50-423F-BFE9-871A4A9E5541}" type="slidenum">
              <a:rPr lang="en-US" smtClean="0"/>
              <a:t>3</a:t>
            </a:fld>
            <a:endParaRPr lang="en-US"/>
          </a:p>
        </p:txBody>
      </p:sp>
    </p:spTree>
    <p:extLst>
      <p:ext uri="{BB962C8B-B14F-4D97-AF65-F5344CB8AC3E}">
        <p14:creationId xmlns:p14="http://schemas.microsoft.com/office/powerpoint/2010/main" val="2422296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about one knob: the penalty weight. If it is too small, the solver cheats and breaks the rules. If it is too large, answers are valid but bad. And the right value changes from problem to problem and rule to rule, so people tune it by hand. My motivation: let a trained AI set these weights automatically.</a:t>
            </a:r>
          </a:p>
        </p:txBody>
      </p:sp>
      <p:sp>
        <p:nvSpPr>
          <p:cNvPr id="4" name="Slide Number Placeholder 3"/>
          <p:cNvSpPr>
            <a:spLocks noGrp="1"/>
          </p:cNvSpPr>
          <p:nvPr>
            <p:ph type="sldNum" sz="quarter" idx="10"/>
          </p:nvPr>
        </p:nvSpPr>
        <p:spPr/>
        <p:txBody>
          <a:bodyPr/>
          <a:lstStyle/>
          <a:p>
            <a:fld id="{BE61D291-DE50-423F-BFE9-871A4A9E5541}" type="slidenum">
              <a:rPr lang="en-US" smtClean="0"/>
              <a:t>4</a:t>
            </a:fld>
            <a:endParaRPr lang="en-US"/>
          </a:p>
        </p:txBody>
      </p:sp>
    </p:spTree>
    <p:extLst>
      <p:ext uri="{BB962C8B-B14F-4D97-AF65-F5344CB8AC3E}">
        <p14:creationId xmlns:p14="http://schemas.microsoft.com/office/powerpoint/2010/main" val="1624423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studied how existing papers set the penalty. Most use one fixed value. Some adapt it with hand-written rules. A few use machine learning, but either predict one number before solving or re-learn for every new problem. The closest are Ayanzadeh 2020, which adapts per rule but re-learns each time, and Sharma and Lau 2026, which uses RL but for only two global values.</a:t>
            </a:r>
          </a:p>
        </p:txBody>
      </p:sp>
      <p:sp>
        <p:nvSpPr>
          <p:cNvPr id="4" name="Slide Number Placeholder 3"/>
          <p:cNvSpPr>
            <a:spLocks noGrp="1"/>
          </p:cNvSpPr>
          <p:nvPr>
            <p:ph type="sldNum" sz="quarter" idx="10"/>
          </p:nvPr>
        </p:nvSpPr>
        <p:spPr/>
        <p:txBody>
          <a:bodyPr/>
          <a:lstStyle/>
          <a:p>
            <a:fld id="{BE61D291-DE50-423F-BFE9-871A4A9E5541}" type="slidenum">
              <a:rPr lang="en-US" smtClean="0"/>
              <a:t>5</a:t>
            </a:fld>
            <a:endParaRPr lang="en-US"/>
          </a:p>
        </p:txBody>
      </p:sp>
    </p:spTree>
    <p:extLst>
      <p:ext uri="{BB962C8B-B14F-4D97-AF65-F5344CB8AC3E}">
        <p14:creationId xmlns:p14="http://schemas.microsoft.com/office/powerpoint/2010/main" val="2033989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my novelty. Each column is a property. Each existing method has only some of them. GRAL is the only one with all five: a separate penalty for every rule, updated while solving, by a trained AI, that works on new and bigger problems, and on both classical and quantum solvers. A 2026 review paper lists this as an open problem.</a:t>
            </a:r>
          </a:p>
        </p:txBody>
      </p:sp>
      <p:sp>
        <p:nvSpPr>
          <p:cNvPr id="4" name="Slide Number Placeholder 3"/>
          <p:cNvSpPr>
            <a:spLocks noGrp="1"/>
          </p:cNvSpPr>
          <p:nvPr>
            <p:ph type="sldNum" sz="quarter" idx="10"/>
          </p:nvPr>
        </p:nvSpPr>
        <p:spPr/>
        <p:txBody>
          <a:bodyPr/>
          <a:lstStyle/>
          <a:p>
            <a:fld id="{BE61D291-DE50-423F-BFE9-871A4A9E5541}" type="slidenum">
              <a:rPr lang="en-US" smtClean="0"/>
              <a:t>6</a:t>
            </a:fld>
            <a:endParaRPr lang="en-US"/>
          </a:p>
        </p:txBody>
      </p:sp>
    </p:spTree>
    <p:extLst>
      <p:ext uri="{BB962C8B-B14F-4D97-AF65-F5344CB8AC3E}">
        <p14:creationId xmlns:p14="http://schemas.microsoft.com/office/powerpoint/2010/main" val="2643795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problem statement in simple words: build an AI controller that, round by round, looks at the solver's answers and sets a separate penalty for each rule, so the solver finds valid, short tours within a fixed amount of work. It must work on new and bigger problems and on both a classical and a quantum solver, without retuning.</a:t>
            </a:r>
          </a:p>
        </p:txBody>
      </p:sp>
      <p:sp>
        <p:nvSpPr>
          <p:cNvPr id="4" name="Slide Number Placeholder 3"/>
          <p:cNvSpPr>
            <a:spLocks noGrp="1"/>
          </p:cNvSpPr>
          <p:nvPr>
            <p:ph type="sldNum" sz="quarter" idx="10"/>
          </p:nvPr>
        </p:nvSpPr>
        <p:spPr/>
        <p:txBody>
          <a:bodyPr/>
          <a:lstStyle/>
          <a:p>
            <a:fld id="{BE61D291-DE50-423F-BFE9-871A4A9E5541}" type="slidenum">
              <a:rPr lang="en-US" smtClean="0"/>
              <a:t>7</a:t>
            </a:fld>
            <a:endParaRPr lang="en-US"/>
          </a:p>
        </p:txBody>
      </p:sp>
    </p:spTree>
    <p:extLst>
      <p:ext uri="{BB962C8B-B14F-4D97-AF65-F5344CB8AC3E}">
        <p14:creationId xmlns:p14="http://schemas.microsoft.com/office/powerpoint/2010/main" val="3215286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five objectives. The first three are complete: the encoding and solvers, the GRAL method, and a fair benchmark. The fourth, transfer to bigger problems and to the quantum solver, has initial results. The fifth, extending to another problem and real quantum hardware, is planned for semesters two and three.</a:t>
            </a:r>
          </a:p>
        </p:txBody>
      </p:sp>
      <p:sp>
        <p:nvSpPr>
          <p:cNvPr id="4" name="Slide Number Placeholder 3"/>
          <p:cNvSpPr>
            <a:spLocks noGrp="1"/>
          </p:cNvSpPr>
          <p:nvPr>
            <p:ph type="sldNum" sz="quarter" idx="10"/>
          </p:nvPr>
        </p:nvSpPr>
        <p:spPr/>
        <p:txBody>
          <a:bodyPr/>
          <a:lstStyle/>
          <a:p>
            <a:fld id="{BE61D291-DE50-423F-BFE9-871A4A9E5541}" type="slidenum">
              <a:rPr lang="en-US" smtClean="0"/>
              <a:t>8</a:t>
            </a:fld>
            <a:endParaRPr lang="en-US"/>
          </a:p>
        </p:txBody>
      </p:sp>
    </p:spTree>
    <p:extLst>
      <p:ext uri="{BB962C8B-B14F-4D97-AF65-F5344CB8AC3E}">
        <p14:creationId xmlns:p14="http://schemas.microsoft.com/office/powerpoint/2010/main" val="1058579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Step 1, a TSP problem. Step 2, it is written as an energy: tour length plus a penalty for each rule, with its own weight w and multiplier mu. Step 3, the solver, classical or quantum, gives 32 candidate tours. Step 4, we measure which rules were broken. Step 5, GRAL, a graph neural network, reads this and sets new penalties, and the loop repeats. It is trained with PPO. Three design ideas: it corrects a classical rule instead of starting from zero, it is rewarded for beating that rule, and the same network works for any size.</a:t>
            </a:r>
          </a:p>
        </p:txBody>
      </p:sp>
      <p:sp>
        <p:nvSpPr>
          <p:cNvPr id="4" name="Slide Number Placeholder 3"/>
          <p:cNvSpPr>
            <a:spLocks noGrp="1"/>
          </p:cNvSpPr>
          <p:nvPr>
            <p:ph type="sldNum" sz="quarter" idx="10"/>
          </p:nvPr>
        </p:nvSpPr>
        <p:spPr/>
        <p:txBody>
          <a:bodyPr/>
          <a:lstStyle/>
          <a:p>
            <a:fld id="{BE61D291-DE50-423F-BFE9-871A4A9E5541}" type="slidenum">
              <a:rPr lang="en-US" smtClean="0"/>
              <a:t>9</a:t>
            </a:fld>
            <a:endParaRPr lang="en-US"/>
          </a:p>
        </p:txBody>
      </p:sp>
    </p:spTree>
    <p:extLst>
      <p:ext uri="{BB962C8B-B14F-4D97-AF65-F5344CB8AC3E}">
        <p14:creationId xmlns:p14="http://schemas.microsoft.com/office/powerpoint/2010/main" val="2032201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across three semesters. The teal bars are finished: literature survey, encoding and solvers, GRAL and its training, and the evaluation. In semester two I will add stronger baselines, a second problem type and noisy quantum simulation, and start the paper. In semester three: real quantum hardware, paper submission and the thesis.</a:t>
            </a:r>
          </a:p>
        </p:txBody>
      </p:sp>
      <p:sp>
        <p:nvSpPr>
          <p:cNvPr id="4" name="Slide Number Placeholder 3"/>
          <p:cNvSpPr>
            <a:spLocks noGrp="1"/>
          </p:cNvSpPr>
          <p:nvPr>
            <p:ph type="sldNum" sz="quarter" idx="10"/>
          </p:nvPr>
        </p:nvSpPr>
        <p:spPr/>
        <p:txBody>
          <a:bodyPr/>
          <a:lstStyle/>
          <a:p>
            <a:fld id="{BE61D291-DE50-423F-BFE9-871A4A9E5541}" type="slidenum">
              <a:rPr lang="en-US" smtClean="0"/>
              <a:t>10</a:t>
            </a:fld>
            <a:endParaRPr lang="en-US"/>
          </a:p>
        </p:txBody>
      </p:sp>
    </p:spTree>
    <p:extLst>
      <p:ext uri="{BB962C8B-B14F-4D97-AF65-F5344CB8AC3E}">
        <p14:creationId xmlns:p14="http://schemas.microsoft.com/office/powerpoint/2010/main" val="3048137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main references in IEEE format. The full paper draft has 32 references.</a:t>
            </a:r>
          </a:p>
        </p:txBody>
      </p:sp>
      <p:sp>
        <p:nvSpPr>
          <p:cNvPr id="4" name="Slide Number Placeholder 3"/>
          <p:cNvSpPr>
            <a:spLocks noGrp="1"/>
          </p:cNvSpPr>
          <p:nvPr>
            <p:ph type="sldNum" sz="quarter" idx="10"/>
          </p:nvPr>
        </p:nvSpPr>
        <p:spPr/>
        <p:txBody>
          <a:bodyPr/>
          <a:lstStyle/>
          <a:p>
            <a:fld id="{BE61D291-DE50-423F-BFE9-871A4A9E5541}" type="slidenum">
              <a:rPr lang="en-US" smtClean="0"/>
              <a:t>11</a:t>
            </a:fld>
            <a:endParaRPr lang="en-US"/>
          </a:p>
        </p:txBody>
      </p:sp>
    </p:spTree>
    <p:extLst>
      <p:ext uri="{BB962C8B-B14F-4D97-AF65-F5344CB8AC3E}">
        <p14:creationId xmlns:p14="http://schemas.microsoft.com/office/powerpoint/2010/main" val="1467196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semester one's work is complete. On nine official TSPLIB problems GRAL had the smallest average distance from the best route, 29.6 percent, versus 32.8 for the best hand-written rule, and it was statistically better than all eight other methods. Honest limit: with five times more solver work GRAL is still first, but its lead over the rule is not statistically proven. On the quantum solver the same policy worked without retraining, but those problems are still small.</a:t>
            </a:r>
          </a:p>
        </p:txBody>
      </p:sp>
      <p:sp>
        <p:nvSpPr>
          <p:cNvPr id="4" name="Slide Number Placeholder 3"/>
          <p:cNvSpPr>
            <a:spLocks noGrp="1"/>
          </p:cNvSpPr>
          <p:nvPr>
            <p:ph type="sldNum" sz="quarter" idx="10"/>
          </p:nvPr>
        </p:nvSpPr>
        <p:spPr/>
        <p:txBody>
          <a:bodyPr/>
          <a:lstStyle/>
          <a:p>
            <a:fld id="{BE61D291-DE50-423F-BFE9-871A4A9E5541}" type="slidenum">
              <a:rPr lang="en-US" smtClean="0"/>
              <a:t>9</a:t>
            </a:fld>
            <a:endParaRPr lang="en-US"/>
          </a:p>
        </p:txBody>
      </p:sp>
    </p:spTree>
    <p:extLst>
      <p:ext uri="{BB962C8B-B14F-4D97-AF65-F5344CB8AC3E}">
        <p14:creationId xmlns:p14="http://schemas.microsoft.com/office/powerpoint/2010/main" val="203220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29B47E-7FD2-4F7F-9381-C4308D2587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B112F421-AC29-47BD-8892-41909CF19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79CFB46-51B2-43F8-B3E5-F10413A22C4E}"/>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1E93CC8D-DF4F-4537-888A-8EE6EA88B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E83F124-D10F-42EF-94F2-7FBC9565EAF7}"/>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89703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FAF84-1226-4033-A36F-9CBF8F50CB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0402083-37E7-4972-9BD5-DD44F1A3C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232F544-050C-4AB9-9095-D9D49AAD20A4}"/>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39DA83C4-112A-4972-9490-E0C0BFDA0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A97559D-8902-4FE2-8DC9-183BD5B086A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10023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71EF2A-5C6B-4555-B136-8C1C3CF3E7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BA2A057-50B5-4DD0-8F0A-F2D8D5D2B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3C4B264-D1AA-42A0-AFED-4F6CAB8BF12D}"/>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0207B74F-FC03-4A6C-A8E2-A0A538917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91910F8-597D-4792-BAC8-A78F4A425F79}"/>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76780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6D0B0B-FB76-4571-8977-8B3C08C5D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CF7BF79-B272-4FC4-9106-632C8D23CA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908AF5FA-67E8-4EBE-A468-53B751D6C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B37AA619-C884-49E4-BAB7-9893F9220280}"/>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6" name="Footer Placeholder 5">
            <a:extLst>
              <a:ext uri="{FF2B5EF4-FFF2-40B4-BE49-F238E27FC236}">
                <a16:creationId xmlns:a16="http://schemas.microsoft.com/office/drawing/2014/main" xmlns="" id="{2075F6F1-CD3D-4683-B56A-CA4563B56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2C63B8C-7D18-4E19-8978-D5C6EBA98754}"/>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47260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877B01-8C23-4336-B1C3-FF72D68AAD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BB695C1-E1E9-4A98-937E-ED1C020AD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0D75512-181D-4D77-8CAF-A5144E14B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C35E4DC-DF2F-4F4A-8F3F-9A0A93E622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82C58E7-FA62-4552-96A3-2A99033860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A998AE32-9603-437D-8BF7-0E77546FC8D6}"/>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8" name="Footer Placeholder 7">
            <a:extLst>
              <a:ext uri="{FF2B5EF4-FFF2-40B4-BE49-F238E27FC236}">
                <a16:creationId xmlns:a16="http://schemas.microsoft.com/office/drawing/2014/main" xmlns="" id="{A701969E-3CD1-4F9E-A7E7-B9B4EF8A0C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597F010-A6F0-4DF8-A842-5E31FC018D46}"/>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3196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8E5A20-2A9F-4D6C-943E-3346E4B88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5866C692-C827-4E55-AFA5-76012CD1DAFF}"/>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4" name="Footer Placeholder 3">
            <a:extLst>
              <a:ext uri="{FF2B5EF4-FFF2-40B4-BE49-F238E27FC236}">
                <a16:creationId xmlns:a16="http://schemas.microsoft.com/office/drawing/2014/main" xmlns="" id="{C49F3284-9696-48B8-984D-EF44AFF57A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FE3B2182-6056-4315-85AF-6B170A3BD3F2}"/>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117189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23127D1-DB28-4E2E-AB99-81CE7B31D5D9}"/>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3" name="Footer Placeholder 2">
            <a:extLst>
              <a:ext uri="{FF2B5EF4-FFF2-40B4-BE49-F238E27FC236}">
                <a16:creationId xmlns:a16="http://schemas.microsoft.com/office/drawing/2014/main" xmlns="" id="{B6D74E91-7F9D-445A-9D5A-D936D47F61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5DF7EE57-433A-40AE-9D93-D33BBB3E714A}"/>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41196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75A1A1-4F5E-44F9-B94A-C250BE555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90D6C8D-A700-4FCE-B56C-3A9ABC2F10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96410EC8-7B17-4C9B-9964-44916E021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1220A7F-94E3-4E5B-BFA0-48322E2FCDBF}"/>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6" name="Footer Placeholder 5">
            <a:extLst>
              <a:ext uri="{FF2B5EF4-FFF2-40B4-BE49-F238E27FC236}">
                <a16:creationId xmlns:a16="http://schemas.microsoft.com/office/drawing/2014/main" xmlns="" id="{27E378A7-2C2A-4383-8653-F4DA31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888D93A-9480-4E63-8798-CD24AF0A91EF}"/>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67144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F6621-ECC8-4152-9057-81E2FDAEC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693B2BEA-9AD4-4A0C-A422-54C36BB84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46126CA7-371A-43DB-8F97-FAC204E22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E1BBC57-3C07-4506-B4A1-832FDC2AC2BA}"/>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6" name="Footer Placeholder 5">
            <a:extLst>
              <a:ext uri="{FF2B5EF4-FFF2-40B4-BE49-F238E27FC236}">
                <a16:creationId xmlns:a16="http://schemas.microsoft.com/office/drawing/2014/main" xmlns="" id="{751FE5C9-2CC7-4F1D-BC56-0A551A41B6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B8682B3-FAFE-491A-8C8A-4FCDBD771F2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9618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54D76-6DBE-44B7-BA10-CABAE4DC19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ED751C6-4C65-4D0C-803C-D873E7572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7E3335A-CD1D-48A4-BBF1-DFE274F90F02}"/>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C2ED7192-B6E0-4D23-B0F4-2ED81C241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FE35068-BFD5-4BFC-983A-200964FB6DC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67948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9EE84AD-9F49-48BE-9C47-E797DEF603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1AD3D05-FE87-4F0F-8AD2-D3A0256B3B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B5D02F6-DF5D-4A18-81E3-7798A49C0063}"/>
              </a:ext>
            </a:extLst>
          </p:cNvPr>
          <p:cNvSpPr>
            <a:spLocks noGrp="1"/>
          </p:cNvSpPr>
          <p:nvPr>
            <p:ph type="dt" sz="half" idx="10"/>
          </p:nvPr>
        </p:nvSpPr>
        <p:spPr/>
        <p:txBody>
          <a:body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CAB3DD7E-1A38-4F0A-8410-AFE04DC7F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6FA0932-B146-44C0-800B-F7D153BAA7DD}"/>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032585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C695D76-3F76-4440-BE44-E11DC8D09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1A57BFB-E7FD-43C8-A3D2-454449D5C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CD78B87-4569-4FAE-AC1E-60B780FF4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F855A-7651-4E31-8BB5-9B7BFCF86767}" type="datetimeFigureOut">
              <a:rPr lang="en-IN" smtClean="0"/>
              <a:t>23-02-2026</a:t>
            </a:fld>
            <a:endParaRPr lang="en-IN"/>
          </a:p>
        </p:txBody>
      </p:sp>
      <p:sp>
        <p:nvSpPr>
          <p:cNvPr id="5" name="Footer Placeholder 4">
            <a:extLst>
              <a:ext uri="{FF2B5EF4-FFF2-40B4-BE49-F238E27FC236}">
                <a16:creationId xmlns:a16="http://schemas.microsoft.com/office/drawing/2014/main" xmlns="" id="{D429C498-524F-43DB-8E60-5093D891D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ACA8424-BFE9-4B1D-B213-4F570AB349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702D1-3802-43A1-9CC1-AD6315A316D9}" type="slidenum">
              <a:rPr lang="en-IN" smtClean="0"/>
              <a:t>‹#›</a:t>
            </a:fld>
            <a:endParaRPr lang="en-IN"/>
          </a:p>
        </p:txBody>
      </p:sp>
    </p:spTree>
    <p:extLst>
      <p:ext uri="{BB962C8B-B14F-4D97-AF65-F5344CB8AC3E}">
        <p14:creationId xmlns:p14="http://schemas.microsoft.com/office/powerpoint/2010/main" val="7405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1" Type="http://schemas.openxmlformats.org/officeDocument/2006/relationships/slideLayout" Target="../slideLayouts/slideLayout2.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005840"/>
            <a:ext cx="9052560" cy="2011680"/>
          </a:xfrm>
        </p:spPr>
        <p:txBody>
          <a:bodyPr anchor="ctr">
            <a:normAutofit/>
          </a:bodyPr>
          <a:lstStyle/>
          <a:p>
            <a:pPr algn="ctr" marL="0" indent="0">
              <a:lnSpc>
                <a:spcPct val="90000"/>
              </a:lnSpc>
              <a:spcBef>
                <a:spcPts val="0"/>
              </a:spcBef>
              <a:spcAft>
                <a:spcPts val="0"/>
              </a:spcAft>
              <a:buNone/>
            </a:pPr>
            <a:r>
              <a:rPr lang="en-US" sz="3000" b="1" i="0" dirty="0">
                <a:solidFill>
                  <a:srgbClr val="12355B"/>
                </a:solidFill>
                <a:latin typeface="+mn-lt"/>
              </a:rPr>
              <a:t>Design and Analysis of Hybrid Classical–Quantum Algorithms for Combinatorial Optimization</a:t>
            </a:r>
            <a:endParaRPr lang="en-US" sz="3000" dirty="0"/>
          </a:p>
          <a:p>
            <a:pPr algn="ctr" marL="0" indent="0">
              <a:spcBef>
                <a:spcPts val="1000"/>
              </a:spcBef>
              <a:spcAft>
                <a:spcPts val="0"/>
              </a:spcAft>
              <a:buNone/>
            </a:pPr>
            <a:r>
              <a:rPr lang="en-US" sz="2200" b="0" i="1" dirty="0">
                <a:solidFill>
                  <a:srgbClr val="1B7F79"/>
                </a:solidFill>
                <a:latin typeface="+mn-lt"/>
              </a:rPr>
              <a:t>GRAL: Learning Per-Constraint Penalty Control for QUBO Solvers</a:t>
            </a:r>
            <a:endParaRPr lang="en-US" sz="2200" dirty="0"/>
          </a:p>
          <a:p>
            <a:pPr algn="ctr" marL="0" indent="0">
              <a:spcBef>
                <a:spcPts val="800"/>
              </a:spcBef>
              <a:spcAft>
                <a:spcPts val="0"/>
              </a:spcAft>
              <a:buNone/>
            </a:pPr>
            <a:r>
              <a:rPr lang="en-US" sz="2000" b="0" i="0" dirty="0">
                <a:solidFill>
                  <a:srgbClr val="1F2A33"/>
                </a:solidFill>
                <a:latin typeface="+mn-lt"/>
              </a:rPr>
              <a:t>Honours Project Phase 1 – Review 1</a:t>
            </a:r>
            <a:endParaRPr lang="en-US" sz="2000" dirty="0"/>
          </a:p>
        </p:txBody>
      </p:sp>
      <p:sp>
        <p:nvSpPr>
          <p:cNvPr id="3" name="Subtitle 2"/>
          <p:cNvSpPr>
            <a:spLocks noGrp="1"/>
          </p:cNvSpPr>
          <p:nvPr>
            <p:ph type="subTitle" idx="1"/>
          </p:nvPr>
        </p:nvSpPr>
        <p:spPr>
          <a:xfrm>
            <a:off x="1620252" y="3154680"/>
            <a:ext cx="9144000" cy="1655762"/>
          </a:xfrm>
        </p:spPr>
        <p:txBody>
          <a:bodyPr/>
          <a:lstStyle/>
          <a:p>
            <a:r>
              <a:rPr lang="en-IN" sz="2800" dirty="0" smtClean="0"/>
              <a:t>By</a:t>
            </a:r>
            <a:endParaRPr lang="en-IN" sz="2800" dirty="0"/>
          </a:p>
          <a:p>
            <a:r>
              <a:rPr lang="en-IN" sz="2800" i="1" dirty="0"/>
              <a:t>Name </a:t>
            </a:r>
            <a:r>
              <a:rPr lang="en-IN" sz="2800" i="1" dirty="0" smtClean="0"/>
              <a:t>of the student</a:t>
            </a:r>
          </a:p>
          <a:p>
            <a:r>
              <a:rPr lang="en-IN" sz="2800" i="1" dirty="0" smtClean="0"/>
              <a:t>Roll </a:t>
            </a:r>
            <a:r>
              <a:rPr lang="en-IN" sz="2800" i="1" dirty="0" smtClean="0"/>
              <a:t>number</a:t>
            </a:r>
            <a:endParaRPr lang="en-IN" sz="2800" i="1" dirty="0"/>
          </a:p>
          <a:p>
            <a:endParaRPr lang="en-IN"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7" name="Footer Placeholder 6"/>
          <p:cNvSpPr>
            <a:spLocks noGrp="1"/>
          </p:cNvSpPr>
          <p:nvPr>
            <p:ph type="ftr" sz="quarter" idx="11"/>
          </p:nvPr>
        </p:nvSpPr>
        <p:spPr>
          <a:xfrm>
            <a:off x="3164305" y="6112042"/>
            <a:ext cx="4989095" cy="609433"/>
          </a:xfrm>
        </p:spPr>
        <p:txBody>
          <a:bodyPr/>
          <a:lstStyle/>
          <a:p>
            <a:r>
              <a:rPr lang="en-US" dirty="0"/>
              <a:t>Indian Institute of Information Technology </a:t>
            </a:r>
            <a:r>
              <a:rPr lang="en-US" dirty="0" err="1"/>
              <a:t>Kottayam</a:t>
            </a:r>
            <a:endParaRPr lang="en-US" dirty="0"/>
          </a:p>
        </p:txBody>
      </p:sp>
      <p:sp>
        <p:nvSpPr>
          <p:cNvPr id="6" name="Subtitle 2"/>
          <p:cNvSpPr txBox="1">
            <a:spLocks/>
          </p:cNvSpPr>
          <p:nvPr/>
        </p:nvSpPr>
        <p:spPr>
          <a:xfrm>
            <a:off x="7865175" y="5443347"/>
            <a:ext cx="3474492" cy="1029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Guided By,</a:t>
            </a:r>
          </a:p>
          <a:p>
            <a:r>
              <a:rPr lang="en-IN" i="1" dirty="0"/>
              <a:t>Name of the Project Guide</a:t>
            </a:r>
          </a:p>
        </p:txBody>
      </p:sp>
    </p:spTree>
    <p:extLst>
      <p:ext uri="{BB962C8B-B14F-4D97-AF65-F5344CB8AC3E}">
        <p14:creationId xmlns:p14="http://schemas.microsoft.com/office/powerpoint/2010/main" val="2525230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Outline</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2</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01" name="Badge 101"/>
          <p:cNvSpPr/>
          <p:nvPr/>
        </p:nvSpPr>
        <p:spPr>
          <a:xfrm>
            <a:off x="868680" y="1828800"/>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1</a:t>
            </a:r>
            <a:endParaRPr lang="en-US" sz="1600" dirty="0"/>
          </a:p>
        </p:txBody>
      </p:sp>
      <p:sp>
        <p:nvSpPr>
          <p:cNvPr id="102" name="TextBox 102"/>
          <p:cNvSpPr txBox="1"/>
          <p:nvPr/>
        </p:nvSpPr>
        <p:spPr>
          <a:xfrm>
            <a:off x="1600200" y="1828800"/>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Introduction</a:t>
            </a:r>
            <a:endParaRPr lang="en-US" sz="2000" dirty="0"/>
          </a:p>
        </p:txBody>
      </p:sp>
      <p:sp>
        <p:nvSpPr>
          <p:cNvPr id="103" name="Badge 103"/>
          <p:cNvSpPr/>
          <p:nvPr/>
        </p:nvSpPr>
        <p:spPr>
          <a:xfrm>
            <a:off x="868680" y="2615184"/>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2</a:t>
            </a:r>
            <a:endParaRPr lang="en-US" sz="1600" dirty="0"/>
          </a:p>
        </p:txBody>
      </p:sp>
      <p:sp>
        <p:nvSpPr>
          <p:cNvPr id="104" name="TextBox 104"/>
          <p:cNvSpPr txBox="1"/>
          <p:nvPr/>
        </p:nvSpPr>
        <p:spPr>
          <a:xfrm>
            <a:off x="1600200" y="2615184"/>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Motivation</a:t>
            </a:r>
            <a:endParaRPr lang="en-US" sz="2000" dirty="0"/>
          </a:p>
        </p:txBody>
      </p:sp>
      <p:sp>
        <p:nvSpPr>
          <p:cNvPr id="105" name="Badge 105"/>
          <p:cNvSpPr/>
          <p:nvPr/>
        </p:nvSpPr>
        <p:spPr>
          <a:xfrm>
            <a:off x="868680" y="3401568"/>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3</a:t>
            </a:r>
            <a:endParaRPr lang="en-US" sz="1600" dirty="0"/>
          </a:p>
        </p:txBody>
      </p:sp>
      <p:sp>
        <p:nvSpPr>
          <p:cNvPr id="106" name="TextBox 106"/>
          <p:cNvSpPr txBox="1"/>
          <p:nvPr/>
        </p:nvSpPr>
        <p:spPr>
          <a:xfrm>
            <a:off x="1600200" y="3401568"/>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Literature Review</a:t>
            </a:r>
            <a:endParaRPr lang="en-US" sz="2000" dirty="0"/>
          </a:p>
        </p:txBody>
      </p:sp>
      <p:sp>
        <p:nvSpPr>
          <p:cNvPr id="107" name="Badge 107"/>
          <p:cNvSpPr/>
          <p:nvPr/>
        </p:nvSpPr>
        <p:spPr>
          <a:xfrm>
            <a:off x="868680" y="4187952"/>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4</a:t>
            </a:r>
            <a:endParaRPr lang="en-US" sz="1600" dirty="0"/>
          </a:p>
        </p:txBody>
      </p:sp>
      <p:sp>
        <p:nvSpPr>
          <p:cNvPr id="108" name="TextBox 108"/>
          <p:cNvSpPr txBox="1"/>
          <p:nvPr/>
        </p:nvSpPr>
        <p:spPr>
          <a:xfrm>
            <a:off x="1600200" y="4187952"/>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Research Gaps and Novelty</a:t>
            </a:r>
            <a:endParaRPr lang="en-US" sz="2000" dirty="0"/>
          </a:p>
        </p:txBody>
      </p:sp>
      <p:sp>
        <p:nvSpPr>
          <p:cNvPr id="109" name="Badge 109"/>
          <p:cNvSpPr/>
          <p:nvPr/>
        </p:nvSpPr>
        <p:spPr>
          <a:xfrm>
            <a:off x="868680" y="4974336"/>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5</a:t>
            </a:r>
            <a:endParaRPr lang="en-US" sz="1600" dirty="0"/>
          </a:p>
        </p:txBody>
      </p:sp>
      <p:sp>
        <p:nvSpPr>
          <p:cNvPr id="110" name="TextBox 110"/>
          <p:cNvSpPr txBox="1"/>
          <p:nvPr/>
        </p:nvSpPr>
        <p:spPr>
          <a:xfrm>
            <a:off x="1600200" y="4974336"/>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Problem Statement</a:t>
            </a:r>
            <a:endParaRPr lang="en-US" sz="2000" dirty="0"/>
          </a:p>
        </p:txBody>
      </p:sp>
      <p:sp>
        <p:nvSpPr>
          <p:cNvPr id="111" name="Badge 111"/>
          <p:cNvSpPr/>
          <p:nvPr/>
        </p:nvSpPr>
        <p:spPr>
          <a:xfrm>
            <a:off x="6263640" y="1828800"/>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6</a:t>
            </a:r>
            <a:endParaRPr lang="en-US" sz="1600" dirty="0"/>
          </a:p>
        </p:txBody>
      </p:sp>
      <p:sp>
        <p:nvSpPr>
          <p:cNvPr id="112" name="TextBox 112"/>
          <p:cNvSpPr txBox="1"/>
          <p:nvPr/>
        </p:nvSpPr>
        <p:spPr>
          <a:xfrm>
            <a:off x="6995160" y="1828800"/>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Objectives</a:t>
            </a:r>
            <a:endParaRPr lang="en-US" sz="2000" dirty="0"/>
          </a:p>
        </p:txBody>
      </p:sp>
      <p:sp>
        <p:nvSpPr>
          <p:cNvPr id="113" name="Badge 113"/>
          <p:cNvSpPr/>
          <p:nvPr/>
        </p:nvSpPr>
        <p:spPr>
          <a:xfrm>
            <a:off x="6263640" y="2615184"/>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7</a:t>
            </a:r>
            <a:endParaRPr lang="en-US" sz="1600" dirty="0"/>
          </a:p>
        </p:txBody>
      </p:sp>
      <p:sp>
        <p:nvSpPr>
          <p:cNvPr id="114" name="TextBox 114"/>
          <p:cNvSpPr txBox="1"/>
          <p:nvPr/>
        </p:nvSpPr>
        <p:spPr>
          <a:xfrm>
            <a:off x="6995160" y="2615184"/>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Methodology / Architecture</a:t>
            </a:r>
            <a:endParaRPr lang="en-US" sz="2000" dirty="0"/>
          </a:p>
        </p:txBody>
      </p:sp>
      <p:sp>
        <p:nvSpPr>
          <p:cNvPr id="115" name="Badge 115"/>
          <p:cNvSpPr/>
          <p:nvPr/>
        </p:nvSpPr>
        <p:spPr>
          <a:xfrm>
            <a:off x="6263640" y="3401568"/>
            <a:ext cx="512064" cy="512064"/>
          </a:xfrm>
          <a:prstGeom prst="ellipse">
            <a:avLst/>
          </a:prstGeom>
          <a:solidFill>
            <a:srgbClr val="D98C1F"/>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8</a:t>
            </a:r>
            <a:endParaRPr lang="en-US" sz="1600" dirty="0"/>
          </a:p>
        </p:txBody>
      </p:sp>
      <p:sp>
        <p:nvSpPr>
          <p:cNvPr id="116" name="TextBox 116"/>
          <p:cNvSpPr txBox="1"/>
          <p:nvPr/>
        </p:nvSpPr>
        <p:spPr>
          <a:xfrm>
            <a:off x="6995160" y="3401568"/>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Work Done So Far</a:t>
            </a:r>
            <a:endParaRPr lang="en-US" sz="2000" dirty="0"/>
          </a:p>
        </p:txBody>
      </p:sp>
      <p:sp>
        <p:nvSpPr>
          <p:cNvPr id="117" name="Badge 117"/>
          <p:cNvSpPr/>
          <p:nvPr/>
        </p:nvSpPr>
        <p:spPr>
          <a:xfrm>
            <a:off x="6263640" y="4187952"/>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9</a:t>
            </a:r>
            <a:endParaRPr lang="en-US" sz="1600" dirty="0"/>
          </a:p>
        </p:txBody>
      </p:sp>
      <p:sp>
        <p:nvSpPr>
          <p:cNvPr id="118" name="TextBox 118"/>
          <p:cNvSpPr txBox="1"/>
          <p:nvPr/>
        </p:nvSpPr>
        <p:spPr>
          <a:xfrm>
            <a:off x="6995160" y="4187952"/>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3-Semester Timeline</a:t>
            </a:r>
            <a:endParaRPr lang="en-US" sz="2000" dirty="0"/>
          </a:p>
        </p:txBody>
      </p:sp>
      <p:sp>
        <p:nvSpPr>
          <p:cNvPr id="119" name="Badge 119"/>
          <p:cNvSpPr/>
          <p:nvPr/>
        </p:nvSpPr>
        <p:spPr>
          <a:xfrm>
            <a:off x="6263640" y="4974336"/>
            <a:ext cx="512064" cy="512064"/>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600" b="1" i="0" dirty="0">
                <a:solidFill>
                  <a:srgbClr val="FFFFFF"/>
                </a:solidFill>
                <a:latin typeface="+mn-lt"/>
              </a:rPr>
              <a:t>10</a:t>
            </a:r>
            <a:endParaRPr lang="en-US" sz="1600" dirty="0"/>
          </a:p>
        </p:txBody>
      </p:sp>
      <p:sp>
        <p:nvSpPr>
          <p:cNvPr id="120" name="TextBox 120"/>
          <p:cNvSpPr txBox="1"/>
          <p:nvPr/>
        </p:nvSpPr>
        <p:spPr>
          <a:xfrm>
            <a:off x="6995160" y="4974336"/>
            <a:ext cx="4389120" cy="512064"/>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2000" b="0" i="0" dirty="0">
                <a:solidFill>
                  <a:srgbClr val="1F2A33"/>
                </a:solidFill>
                <a:latin typeface="+mn-lt"/>
              </a:rPr>
              <a:t>References</a:t>
            </a:r>
            <a:endParaRPr lang="en-US" sz="2000" dirty="0"/>
          </a:p>
        </p:txBody>
      </p:sp>
    </p:spTree>
    <p:extLst>
      <p:ext uri="{BB962C8B-B14F-4D97-AF65-F5344CB8AC3E}">
        <p14:creationId xmlns:p14="http://schemas.microsoft.com/office/powerpoint/2010/main" val="61306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3</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21" name="TextBox 121"/>
          <p:cNvSpPr txBox="1"/>
          <p:nvPr/>
        </p:nvSpPr>
        <p:spPr>
          <a:xfrm>
            <a:off x="868680" y="1828800"/>
            <a:ext cx="5669280" cy="4206240"/>
          </a:xfrm>
          <a:prstGeom prst="rect">
            <a:avLst/>
          </a:prstGeom>
          <a:noFill/>
          <a:ln>
            <a:noFill/>
          </a:ln>
        </p:spPr>
        <p:txBody>
          <a:bodyPr wrap="square" lIns="0" tIns="0" rIns="0" bIns="0" anchor="t" rtlCol="0">
            <a:noAutofit/>
          </a:bodyPr>
          <a:lstStyle/>
          <a:p>
            <a:pPr algn="l" marL="0" indent="0">
              <a:spcBef>
                <a:spcPts val="0"/>
              </a:spcBef>
              <a:spcAft>
                <a:spcPts val="400"/>
              </a:spcAft>
              <a:buNone/>
            </a:pPr>
            <a:r>
              <a:rPr lang="en-US" sz="2000" b="1" i="0" dirty="0">
                <a:solidFill>
                  <a:srgbClr val="1B7F79"/>
                </a:solidFill>
                <a:latin typeface="+mn-lt"/>
              </a:rPr>
              <a:t>The topic</a:t>
            </a:r>
            <a:endParaRPr lang="en-US" sz="2000" dirty="0"/>
          </a:p>
          <a:p>
            <a:pPr algn="l" marL="228600" indent="-228600">
              <a:spcBef>
                <a:spcPts val="0"/>
              </a:spcBef>
              <a:spcAft>
                <a:spcPts val="600"/>
              </a:spcAft>
              <a:buFont typeface="Arial"/>
              <a:buChar char="•"/>
            </a:pPr>
            <a:r>
              <a:rPr lang="en-US" sz="1500" b="0" i="0" dirty="0">
                <a:solidFill>
                  <a:srgbClr val="1F2A33"/>
                </a:solidFill>
                <a:latin typeface="+mn-lt"/>
              </a:rPr>
              <a:t>Routing, scheduling and layout problems are combinatorial optimisation problems; the Travelling Salesman Problem (TSP) is the classic one.</a:t>
            </a:r>
            <a:endParaRPr lang="en-US" sz="1500" dirty="0"/>
          </a:p>
          <a:p>
            <a:pPr algn="l" marL="228600" indent="-228600">
              <a:spcBef>
                <a:spcPts val="0"/>
              </a:spcBef>
              <a:spcAft>
                <a:spcPts val="600"/>
              </a:spcAft>
              <a:buFont typeface="Arial"/>
              <a:buChar char="•"/>
            </a:pPr>
            <a:r>
              <a:rPr lang="en-US" sz="1500" b="0" i="0" dirty="0">
                <a:solidFill>
                  <a:srgbClr val="1F2A33"/>
                </a:solidFill>
                <a:latin typeface="+mn-lt"/>
              </a:rPr>
              <a:t>Quantum and quantum-inspired solvers (QAOA, quantum annealing) accept only a QUBO: an energy over 0/1 variables with no rules attached.</a:t>
            </a:r>
            <a:endParaRPr lang="en-US" sz="1500" dirty="0"/>
          </a:p>
          <a:p>
            <a:pPr algn="l" marL="228600" indent="-228600">
              <a:spcBef>
                <a:spcPts val="0"/>
              </a:spcBef>
              <a:spcAft>
                <a:spcPts val="1400"/>
              </a:spcAft>
              <a:buFont typeface="Arial"/>
              <a:buChar char="•"/>
            </a:pPr>
            <a:r>
              <a:rPr lang="en-US" sz="1500" b="0" i="0" dirty="0">
                <a:solidFill>
                  <a:srgbClr val="1F2A33"/>
                </a:solidFill>
                <a:latin typeface="+mn-lt"/>
              </a:rPr>
              <a:t>So every rule (“visit each city exactly once”) is added to the energy as a penalty with a weight λ.</a:t>
            </a:r>
            <a:endParaRPr lang="en-US" sz="1500" dirty="0"/>
          </a:p>
          <a:p>
            <a:pPr algn="l" marL="0" indent="0">
              <a:spcBef>
                <a:spcPts val="0"/>
              </a:spcBef>
              <a:spcAft>
                <a:spcPts val="400"/>
              </a:spcAft>
              <a:buNone/>
            </a:pPr>
            <a:r>
              <a:rPr lang="en-US" sz="2000" b="1" i="0" dirty="0">
                <a:solidFill>
                  <a:srgbClr val="1B7F79"/>
                </a:solidFill>
                <a:latin typeface="+mn-lt"/>
              </a:rPr>
              <a:t>Why it matters</a:t>
            </a:r>
            <a:endParaRPr lang="en-US" sz="2000" dirty="0"/>
          </a:p>
          <a:p>
            <a:pPr algn="l" marL="228600" indent="-228600">
              <a:spcBef>
                <a:spcPts val="0"/>
              </a:spcBef>
              <a:spcAft>
                <a:spcPts val="600"/>
              </a:spcAft>
              <a:buFont typeface="Arial"/>
              <a:buChar char="•"/>
            </a:pPr>
            <a:r>
              <a:rPr lang="en-US" sz="1500" b="0" i="0" dirty="0">
                <a:solidFill>
                  <a:srgbClr val="1F2A33"/>
                </a:solidFill>
                <a:latin typeface="+mn-lt"/>
              </a:rPr>
              <a:t>Hybrid loops — a classical computer steering a quantum solver — are the practical route on today’s noisy hardware.</a:t>
            </a:r>
            <a:endParaRPr lang="en-US" sz="1500" dirty="0"/>
          </a:p>
          <a:p>
            <a:pPr algn="l" marL="228600" indent="-228600">
              <a:spcBef>
                <a:spcPts val="0"/>
              </a:spcBef>
              <a:spcAft>
                <a:spcPts val="0"/>
              </a:spcAft>
              <a:buFont typeface="Arial"/>
              <a:buChar char="•"/>
            </a:pPr>
            <a:r>
              <a:rPr lang="en-US" sz="1500" b="0" i="0" dirty="0">
                <a:solidFill>
                  <a:srgbClr val="1F2A33"/>
                </a:solidFill>
                <a:latin typeface="+mn-lt"/>
              </a:rPr>
              <a:t>The penalty weights decide whether the solver returns valid, short tours, on any hardware.</a:t>
            </a:r>
            <a:endParaRPr lang="en-US" sz="1500" dirty="0"/>
          </a:p>
        </p:txBody>
      </p:sp>
      <p:sp>
        <p:nvSpPr>
          <p:cNvPr id="122" name="Card 122"/>
          <p:cNvSpPr/>
          <p:nvPr/>
        </p:nvSpPr>
        <p:spPr>
          <a:xfrm>
            <a:off x="6995160" y="1828800"/>
            <a:ext cx="4343400" cy="777240"/>
          </a:xfrm>
          <a:prstGeom prst="roundRect">
            <a:avLst>
              <a:gd name="adj" fmla="val 6000"/>
            </a:avLst>
          </a:prstGeom>
          <a:solidFill>
            <a:srgbClr val="E3F1EF"/>
          </a:solidFill>
          <a:ln>
            <a:noFill/>
          </a:ln>
        </p:spPr>
        <p:txBody>
          <a:bodyPr wrap="square" lIns="182880" tIns="45720" rIns="137160" bIns="45720" anchor="ctr" rtlCol="0">
            <a:noAutofit/>
          </a:bodyPr>
          <a:lstStyle/>
          <a:p>
            <a:pPr algn="l" marL="0" indent="0">
              <a:spcBef>
                <a:spcPts val="0"/>
              </a:spcBef>
              <a:spcAft>
                <a:spcPts val="0"/>
              </a:spcAft>
              <a:buNone/>
            </a:pPr>
            <a:r>
              <a:rPr lang="en-US" sz="1600" b="1" i="0" dirty="0">
                <a:solidFill>
                  <a:srgbClr val="12355B"/>
                </a:solidFill>
                <a:latin typeface="+mn-lt"/>
              </a:rPr>
              <a:t>TSP instance</a:t>
            </a:r>
            <a:endParaRPr lang="en-US" sz="1600" dirty="0"/>
          </a:p>
          <a:p>
            <a:pPr algn="l" marL="0" indent="0">
              <a:spcBef>
                <a:spcPts val="0"/>
              </a:spcBef>
              <a:spcAft>
                <a:spcPts val="0"/>
              </a:spcAft>
              <a:buNone/>
            </a:pPr>
            <a:r>
              <a:rPr lang="en-US" sz="1300" b="0" i="0" dirty="0">
                <a:solidFill>
                  <a:srgbClr val="5B6770"/>
                </a:solidFill>
                <a:latin typeface="+mn-lt"/>
              </a:rPr>
              <a:t>14–29 cities (official TSPLIB)</a:t>
            </a:r>
            <a:endParaRPr lang="en-US" sz="1300" dirty="0"/>
          </a:p>
        </p:txBody>
      </p:sp>
      <p:cxnSp>
        <p:nvCxnSpPr>
          <p:cNvPr id="123" name="Arrow 123"/>
          <p:cNvCxnSpPr/>
          <p:nvPr/>
        </p:nvCxnSpPr>
        <p:spPr>
          <a:xfrm>
            <a:off x="9166860" y="2624328"/>
            <a:ext cx="0" cy="256032"/>
          </a:xfrm>
          <a:prstGeom prst="straightConnector1">
            <a:avLst/>
          </a:prstGeom>
          <a:ln w="22225">
            <a:solidFill>
              <a:srgbClr val="1B7F79"/>
            </a:solidFill>
            <a:tailEnd type="triangle" w="med" len="med"/>
          </a:ln>
        </p:spPr>
      </p:cxnSp>
      <p:sp>
        <p:nvSpPr>
          <p:cNvPr id="124" name="Card 124"/>
          <p:cNvSpPr/>
          <p:nvPr/>
        </p:nvSpPr>
        <p:spPr>
          <a:xfrm>
            <a:off x="6995160" y="2898648"/>
            <a:ext cx="4343400" cy="777240"/>
          </a:xfrm>
          <a:prstGeom prst="roundRect">
            <a:avLst>
              <a:gd name="adj" fmla="val 6000"/>
            </a:avLst>
          </a:prstGeom>
          <a:solidFill>
            <a:srgbClr val="FCEFD9"/>
          </a:solidFill>
          <a:ln>
            <a:noFill/>
          </a:ln>
        </p:spPr>
        <p:txBody>
          <a:bodyPr wrap="square" lIns="182880" tIns="45720" rIns="137160" bIns="45720" anchor="ctr" rtlCol="0">
            <a:noAutofit/>
          </a:bodyPr>
          <a:lstStyle/>
          <a:p>
            <a:pPr algn="l" marL="0" indent="0">
              <a:spcBef>
                <a:spcPts val="0"/>
              </a:spcBef>
              <a:spcAft>
                <a:spcPts val="0"/>
              </a:spcAft>
              <a:buNone/>
            </a:pPr>
            <a:r>
              <a:rPr lang="en-US" sz="1600" b="1" i="0" dirty="0">
                <a:solidFill>
                  <a:srgbClr val="12355B"/>
                </a:solidFill>
                <a:latin typeface="+mn-lt"/>
              </a:rPr>
              <a:t>QUBO energy</a:t>
            </a:r>
            <a:endParaRPr lang="en-US" sz="1600" dirty="0"/>
          </a:p>
          <a:p>
            <a:pPr algn="l" marL="0" indent="0">
              <a:spcBef>
                <a:spcPts val="0"/>
              </a:spcBef>
              <a:spcAft>
                <a:spcPts val="0"/>
              </a:spcAft>
              <a:buNone/>
            </a:pPr>
            <a:r>
              <a:rPr lang="en-US" sz="1300" b="0" i="0" dirty="0">
                <a:solidFill>
                  <a:srgbClr val="5B6770"/>
                </a:solidFill>
                <a:latin typeface="+mn-lt"/>
              </a:rPr>
              <a:t>tour length + a penalty for each rule</a:t>
            </a:r>
            <a:endParaRPr lang="en-US" sz="1300" dirty="0"/>
          </a:p>
        </p:txBody>
      </p:sp>
      <p:cxnSp>
        <p:nvCxnSpPr>
          <p:cNvPr id="125" name="Arrow 125"/>
          <p:cNvCxnSpPr/>
          <p:nvPr/>
        </p:nvCxnSpPr>
        <p:spPr>
          <a:xfrm>
            <a:off x="9166860" y="3694176"/>
            <a:ext cx="0" cy="256032"/>
          </a:xfrm>
          <a:prstGeom prst="straightConnector1">
            <a:avLst/>
          </a:prstGeom>
          <a:ln w="22225">
            <a:solidFill>
              <a:srgbClr val="1B7F79"/>
            </a:solidFill>
            <a:tailEnd type="triangle" w="med" len="med"/>
          </a:ln>
        </p:spPr>
      </p:cxnSp>
      <p:sp>
        <p:nvSpPr>
          <p:cNvPr id="126" name="Card 126"/>
          <p:cNvSpPr/>
          <p:nvPr/>
        </p:nvSpPr>
        <p:spPr>
          <a:xfrm>
            <a:off x="6995160" y="3968496"/>
            <a:ext cx="4343400" cy="777240"/>
          </a:xfrm>
          <a:prstGeom prst="roundRect">
            <a:avLst>
              <a:gd name="adj" fmla="val 6000"/>
            </a:avLst>
          </a:prstGeom>
          <a:solidFill>
            <a:srgbClr val="E3F1EF"/>
          </a:solidFill>
          <a:ln>
            <a:noFill/>
          </a:ln>
        </p:spPr>
        <p:txBody>
          <a:bodyPr wrap="square" lIns="182880" tIns="45720" rIns="137160" bIns="45720" anchor="ctr" rtlCol="0">
            <a:noAutofit/>
          </a:bodyPr>
          <a:lstStyle/>
          <a:p>
            <a:pPr algn="l" marL="0" indent="0">
              <a:spcBef>
                <a:spcPts val="0"/>
              </a:spcBef>
              <a:spcAft>
                <a:spcPts val="0"/>
              </a:spcAft>
              <a:buNone/>
            </a:pPr>
            <a:r>
              <a:rPr lang="en-US" sz="1600" b="1" i="0" dirty="0">
                <a:solidFill>
                  <a:srgbClr val="12355B"/>
                </a:solidFill>
                <a:latin typeface="+mn-lt"/>
              </a:rPr>
              <a:t>Solver</a:t>
            </a:r>
            <a:endParaRPr lang="en-US" sz="1600" dirty="0"/>
          </a:p>
          <a:p>
            <a:pPr algn="l" marL="0" indent="0">
              <a:spcBef>
                <a:spcPts val="0"/>
              </a:spcBef>
              <a:spcAft>
                <a:spcPts val="0"/>
              </a:spcAft>
              <a:buNone/>
            </a:pPr>
            <a:r>
              <a:rPr lang="en-US" sz="1300" b="0" i="0" dirty="0">
                <a:solidFill>
                  <a:srgbClr val="5B6770"/>
                </a:solidFill>
                <a:latin typeface="+mn-lt"/>
              </a:rPr>
              <a:t>simulated annealing or QAOA (quantum)</a:t>
            </a:r>
            <a:endParaRPr lang="en-US" sz="1300" dirty="0"/>
          </a:p>
        </p:txBody>
      </p:sp>
      <p:cxnSp>
        <p:nvCxnSpPr>
          <p:cNvPr id="127" name="Arrow 127"/>
          <p:cNvCxnSpPr/>
          <p:nvPr/>
        </p:nvCxnSpPr>
        <p:spPr>
          <a:xfrm>
            <a:off x="9166860" y="4764024"/>
            <a:ext cx="0" cy="256032"/>
          </a:xfrm>
          <a:prstGeom prst="straightConnector1">
            <a:avLst/>
          </a:prstGeom>
          <a:ln w="22225">
            <a:solidFill>
              <a:srgbClr val="1B7F79"/>
            </a:solidFill>
            <a:tailEnd type="triangle" w="med" len="med"/>
          </a:ln>
        </p:spPr>
      </p:cxnSp>
      <p:sp>
        <p:nvSpPr>
          <p:cNvPr id="128" name="Card 128"/>
          <p:cNvSpPr/>
          <p:nvPr/>
        </p:nvSpPr>
        <p:spPr>
          <a:xfrm>
            <a:off x="6995160" y="5038344"/>
            <a:ext cx="4343400" cy="777240"/>
          </a:xfrm>
          <a:prstGeom prst="roundRect">
            <a:avLst>
              <a:gd name="adj" fmla="val 6000"/>
            </a:avLst>
          </a:prstGeom>
          <a:solidFill>
            <a:srgbClr val="E3F1EF"/>
          </a:solidFill>
          <a:ln>
            <a:noFill/>
          </a:ln>
        </p:spPr>
        <p:txBody>
          <a:bodyPr wrap="square" lIns="182880" tIns="45720" rIns="137160" bIns="45720" anchor="ctr" rtlCol="0">
            <a:noAutofit/>
          </a:bodyPr>
          <a:lstStyle/>
          <a:p>
            <a:pPr algn="l" marL="0" indent="0">
              <a:spcBef>
                <a:spcPts val="0"/>
              </a:spcBef>
              <a:spcAft>
                <a:spcPts val="0"/>
              </a:spcAft>
              <a:buNone/>
            </a:pPr>
            <a:r>
              <a:rPr lang="en-US" sz="1600" b="1" i="0" dirty="0">
                <a:solidFill>
                  <a:srgbClr val="12355B"/>
                </a:solidFill>
                <a:latin typeface="+mn-lt"/>
              </a:rPr>
              <a:t>Answer</a:t>
            </a:r>
            <a:endParaRPr lang="en-US" sz="1600" dirty="0"/>
          </a:p>
          <a:p>
            <a:pPr algn="l" marL="0" indent="0">
              <a:spcBef>
                <a:spcPts val="0"/>
              </a:spcBef>
              <a:spcAft>
                <a:spcPts val="0"/>
              </a:spcAft>
              <a:buNone/>
            </a:pPr>
            <a:r>
              <a:rPr lang="en-US" sz="1300" b="0" i="0" dirty="0">
                <a:solidFill>
                  <a:srgbClr val="5B6770"/>
                </a:solidFill>
                <a:latin typeface="+mn-lt"/>
              </a:rPr>
              <a:t>a tour — is it valid? is it short?</a:t>
            </a:r>
            <a:endParaRPr lang="en-US" sz="1300" dirty="0"/>
          </a:p>
        </p:txBody>
      </p:sp>
    </p:spTree>
    <p:extLst>
      <p:ext uri="{BB962C8B-B14F-4D97-AF65-F5344CB8AC3E}">
        <p14:creationId xmlns:p14="http://schemas.microsoft.com/office/powerpoint/2010/main" val="3403876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Motivation</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4</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29" name="Card 129"/>
          <p:cNvSpPr/>
          <p:nvPr/>
        </p:nvSpPr>
        <p:spPr>
          <a:xfrm>
            <a:off x="868680" y="1828800"/>
            <a:ext cx="3291840" cy="2788920"/>
          </a:xfrm>
          <a:prstGeom prst="roundRect">
            <a:avLst>
              <a:gd name="adj" fmla="val 6000"/>
            </a:avLst>
          </a:prstGeom>
          <a:solidFill>
            <a:srgbClr val="F8E5E0"/>
          </a:solidFill>
          <a:ln>
            <a:noFill/>
          </a:ln>
        </p:spPr>
        <p:txBody>
          <a:bodyPr wrap="square" lIns="164592" tIns="128016" rIns="164592" bIns="109728" anchor="t" rtlCol="0">
            <a:noAutofit/>
          </a:bodyPr>
          <a:lstStyle/>
          <a:p>
            <a:endParaRPr lang="en-US" sz="1200" dirty="0"/>
          </a:p>
        </p:txBody>
      </p:sp>
      <p:sp>
        <p:nvSpPr>
          <p:cNvPr id="130" name="Badge 130"/>
          <p:cNvSpPr/>
          <p:nvPr/>
        </p:nvSpPr>
        <p:spPr>
          <a:xfrm>
            <a:off x="1097280" y="2029968"/>
            <a:ext cx="685800" cy="685800"/>
          </a:xfrm>
          <a:prstGeom prst="ellipse">
            <a:avLst/>
          </a:prstGeom>
          <a:solidFill>
            <a:srgbClr val="B5462F"/>
          </a:solidFill>
          <a:ln>
            <a:noFill/>
          </a:ln>
        </p:spPr>
        <p:txBody>
          <a:bodyPr wrap="square" lIns="0" tIns="0" rIns="0" bIns="0" anchor="ctr" rtlCol="0">
            <a:noAutofit/>
          </a:bodyPr>
          <a:lstStyle/>
          <a:p>
            <a:pPr algn="ctr" marL="0" indent="0">
              <a:spcBef>
                <a:spcPts val="0"/>
              </a:spcBef>
              <a:spcAft>
                <a:spcPts val="0"/>
              </a:spcAft>
              <a:buNone/>
            </a:pPr>
            <a:r>
              <a:rPr lang="en-US" sz="1700" b="1" i="0" dirty="0">
                <a:solidFill>
                  <a:srgbClr val="FFFFFF"/>
                </a:solidFill>
                <a:latin typeface="+mn-lt"/>
              </a:rPr>
              <a:t>λ↓</a:t>
            </a:r>
            <a:endParaRPr lang="en-US" sz="1700" dirty="0"/>
          </a:p>
        </p:txBody>
      </p:sp>
      <p:sp>
        <p:nvSpPr>
          <p:cNvPr id="131" name="TextBox 131"/>
          <p:cNvSpPr txBox="1"/>
          <p:nvPr/>
        </p:nvSpPr>
        <p:spPr>
          <a:xfrm>
            <a:off x="1097280" y="2852928"/>
            <a:ext cx="2880360" cy="41148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800" b="1" i="0" dirty="0">
                <a:solidFill>
                  <a:srgbClr val="12355B"/>
                </a:solidFill>
                <a:latin typeface="+mn-lt"/>
              </a:rPr>
              <a:t>Penalty too small</a:t>
            </a:r>
            <a:endParaRPr lang="en-US" sz="1800" dirty="0"/>
          </a:p>
        </p:txBody>
      </p:sp>
      <p:sp>
        <p:nvSpPr>
          <p:cNvPr id="132" name="TextBox 132"/>
          <p:cNvSpPr txBox="1"/>
          <p:nvPr/>
        </p:nvSpPr>
        <p:spPr>
          <a:xfrm>
            <a:off x="1097280" y="3291840"/>
            <a:ext cx="2880360" cy="12801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400" b="0" i="0" dirty="0">
                <a:solidFill>
                  <a:srgbClr val="1F2A33"/>
                </a:solidFill>
                <a:latin typeface="+mn-lt"/>
              </a:rPr>
              <a:t>Breaking a rule is cheap. The solver returns short “tours” that skip or repeat cities — invalid answers.</a:t>
            </a:r>
            <a:endParaRPr lang="en-US" sz="1400" dirty="0"/>
          </a:p>
        </p:txBody>
      </p:sp>
      <p:sp>
        <p:nvSpPr>
          <p:cNvPr id="133" name="Card 133"/>
          <p:cNvSpPr/>
          <p:nvPr/>
        </p:nvSpPr>
        <p:spPr>
          <a:xfrm>
            <a:off x="4389120" y="1828800"/>
            <a:ext cx="3291840" cy="2788920"/>
          </a:xfrm>
          <a:prstGeom prst="roundRect">
            <a:avLst>
              <a:gd name="adj" fmla="val 6000"/>
            </a:avLst>
          </a:prstGeom>
          <a:solidFill>
            <a:srgbClr val="FCEFD9"/>
          </a:solidFill>
          <a:ln>
            <a:noFill/>
          </a:ln>
        </p:spPr>
        <p:txBody>
          <a:bodyPr wrap="square" lIns="164592" tIns="128016" rIns="164592" bIns="109728" anchor="t" rtlCol="0">
            <a:noAutofit/>
          </a:bodyPr>
          <a:lstStyle/>
          <a:p>
            <a:endParaRPr lang="en-US" sz="1200" dirty="0"/>
          </a:p>
        </p:txBody>
      </p:sp>
      <p:sp>
        <p:nvSpPr>
          <p:cNvPr id="134" name="Badge 134"/>
          <p:cNvSpPr/>
          <p:nvPr/>
        </p:nvSpPr>
        <p:spPr>
          <a:xfrm>
            <a:off x="4617720" y="2029968"/>
            <a:ext cx="685800" cy="685800"/>
          </a:xfrm>
          <a:prstGeom prst="ellipse">
            <a:avLst/>
          </a:prstGeom>
          <a:solidFill>
            <a:srgbClr val="D98C1F"/>
          </a:solidFill>
          <a:ln>
            <a:noFill/>
          </a:ln>
        </p:spPr>
        <p:txBody>
          <a:bodyPr wrap="square" lIns="0" tIns="0" rIns="0" bIns="0" anchor="ctr" rtlCol="0">
            <a:noAutofit/>
          </a:bodyPr>
          <a:lstStyle/>
          <a:p>
            <a:pPr algn="ctr" marL="0" indent="0">
              <a:spcBef>
                <a:spcPts val="0"/>
              </a:spcBef>
              <a:spcAft>
                <a:spcPts val="0"/>
              </a:spcAft>
              <a:buNone/>
            </a:pPr>
            <a:r>
              <a:rPr lang="en-US" sz="1700" b="1" i="0" dirty="0">
                <a:solidFill>
                  <a:srgbClr val="FFFFFF"/>
                </a:solidFill>
                <a:latin typeface="+mn-lt"/>
              </a:rPr>
              <a:t>λ↑</a:t>
            </a:r>
            <a:endParaRPr lang="en-US" sz="1700" dirty="0"/>
          </a:p>
        </p:txBody>
      </p:sp>
      <p:sp>
        <p:nvSpPr>
          <p:cNvPr id="135" name="TextBox 135"/>
          <p:cNvSpPr txBox="1"/>
          <p:nvPr/>
        </p:nvSpPr>
        <p:spPr>
          <a:xfrm>
            <a:off x="4617720" y="2852928"/>
            <a:ext cx="2880360" cy="41148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800" b="1" i="0" dirty="0">
                <a:solidFill>
                  <a:srgbClr val="12355B"/>
                </a:solidFill>
                <a:latin typeface="+mn-lt"/>
              </a:rPr>
              <a:t>Penalty too large</a:t>
            </a:r>
            <a:endParaRPr lang="en-US" sz="1800" dirty="0"/>
          </a:p>
        </p:txBody>
      </p:sp>
      <p:sp>
        <p:nvSpPr>
          <p:cNvPr id="136" name="TextBox 136"/>
          <p:cNvSpPr txBox="1"/>
          <p:nvPr/>
        </p:nvSpPr>
        <p:spPr>
          <a:xfrm>
            <a:off x="4617720" y="3291840"/>
            <a:ext cx="2880360" cy="12801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400" b="0" i="0" dirty="0">
                <a:solidFill>
                  <a:srgbClr val="1F2A33"/>
                </a:solidFill>
                <a:latin typeface="+mn-lt"/>
              </a:rPr>
              <a:t>The rules drown out the distance. Answers are valid but long, and the solver struggles to improve them.</a:t>
            </a:r>
            <a:endParaRPr lang="en-US" sz="1400" dirty="0"/>
          </a:p>
        </p:txBody>
      </p:sp>
      <p:sp>
        <p:nvSpPr>
          <p:cNvPr id="137" name="Card 137"/>
          <p:cNvSpPr/>
          <p:nvPr/>
        </p:nvSpPr>
        <p:spPr>
          <a:xfrm>
            <a:off x="7909560" y="1828800"/>
            <a:ext cx="3291840" cy="2788920"/>
          </a:xfrm>
          <a:prstGeom prst="roundRect">
            <a:avLst>
              <a:gd name="adj" fmla="val 6000"/>
            </a:avLst>
          </a:prstGeom>
          <a:solidFill>
            <a:srgbClr val="E3F1EF"/>
          </a:solidFill>
          <a:ln>
            <a:noFill/>
          </a:ln>
        </p:spPr>
        <p:txBody>
          <a:bodyPr wrap="square" lIns="164592" tIns="128016" rIns="164592" bIns="109728" anchor="t" rtlCol="0">
            <a:noAutofit/>
          </a:bodyPr>
          <a:lstStyle/>
          <a:p>
            <a:endParaRPr lang="en-US" sz="1200" dirty="0"/>
          </a:p>
        </p:txBody>
      </p:sp>
      <p:sp>
        <p:nvSpPr>
          <p:cNvPr id="138" name="Badge 138"/>
          <p:cNvSpPr/>
          <p:nvPr/>
        </p:nvSpPr>
        <p:spPr>
          <a:xfrm>
            <a:off x="8138160" y="2029968"/>
            <a:ext cx="685800" cy="685800"/>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700" b="1" i="0" dirty="0">
                <a:solidFill>
                  <a:srgbClr val="FFFFFF"/>
                </a:solidFill>
                <a:latin typeface="+mn-lt"/>
              </a:rPr>
              <a:t>λ?</a:t>
            </a:r>
            <a:endParaRPr lang="en-US" sz="1700" dirty="0"/>
          </a:p>
        </p:txBody>
      </p:sp>
      <p:sp>
        <p:nvSpPr>
          <p:cNvPr id="139" name="TextBox 139"/>
          <p:cNvSpPr txBox="1"/>
          <p:nvPr/>
        </p:nvSpPr>
        <p:spPr>
          <a:xfrm>
            <a:off x="8138160" y="2852928"/>
            <a:ext cx="2880360" cy="41148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800" b="1" i="0" dirty="0">
                <a:solidFill>
                  <a:srgbClr val="12355B"/>
                </a:solidFill>
                <a:latin typeface="+mn-lt"/>
              </a:rPr>
              <a:t>One value does not fit all</a:t>
            </a:r>
            <a:endParaRPr lang="en-US" sz="1800" dirty="0"/>
          </a:p>
        </p:txBody>
      </p:sp>
      <p:sp>
        <p:nvSpPr>
          <p:cNvPr id="140" name="TextBox 140"/>
          <p:cNvSpPr txBox="1"/>
          <p:nvPr/>
        </p:nvSpPr>
        <p:spPr>
          <a:xfrm>
            <a:off x="8138160" y="3291840"/>
            <a:ext cx="2880360" cy="12801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400" b="0" i="0" dirty="0">
                <a:solidFill>
                  <a:srgbClr val="1F2A33"/>
                </a:solidFill>
                <a:latin typeface="+mn-lt"/>
              </a:rPr>
              <a:t>The right weight differs per instance, per rule, and as solving progresses. Today it is grid-tuned by hand — slow and costly.</a:t>
            </a:r>
            <a:endParaRPr lang="en-US" sz="1400" dirty="0"/>
          </a:p>
        </p:txBody>
      </p:sp>
      <p:sp>
        <p:nvSpPr>
          <p:cNvPr id="141" name="Card 141"/>
          <p:cNvSpPr/>
          <p:nvPr/>
        </p:nvSpPr>
        <p:spPr>
          <a:xfrm>
            <a:off x="868680" y="4892040"/>
            <a:ext cx="10469880" cy="1051560"/>
          </a:xfrm>
          <a:prstGeom prst="roundRect">
            <a:avLst>
              <a:gd name="adj" fmla="val 6000"/>
            </a:avLst>
          </a:prstGeom>
          <a:solidFill>
            <a:srgbClr val="12355B"/>
          </a:solidFill>
          <a:ln>
            <a:noFill/>
          </a:ln>
        </p:spPr>
        <p:txBody>
          <a:bodyPr wrap="square" lIns="274320" tIns="91440" rIns="274320" bIns="91440" anchor="ctr" rtlCol="0">
            <a:noAutofit/>
          </a:bodyPr>
          <a:lstStyle/>
          <a:p>
            <a:pPr algn="l" marL="0" indent="0">
              <a:spcBef>
                <a:spcPts val="0"/>
              </a:spcBef>
              <a:spcAft>
                <a:spcPts val="0"/>
              </a:spcAft>
              <a:buNone/>
            </a:pPr>
            <a:r>
              <a:rPr lang="en-US" sz="1700" b="1" i="0" dirty="0">
                <a:solidFill>
                  <a:srgbClr val="FFFFFF"/>
                </a:solidFill>
                <a:latin typeface="+mn-lt"/>
              </a:rPr>
              <a:t xml:space="preserve">Motivation: </a:t>
            </a:r>
            <a:r>
              <a:rPr lang="en-US" sz="1700" b="0" i="0" dirty="0">
                <a:solidFill>
                  <a:srgbClr val="FFFFFF"/>
                </a:solidFill>
                <a:latin typeface="+mn-lt"/>
              </a:rPr>
              <a:t>let a trained AI set a separate penalty for every rule, adjusting it from what the solver returns — no hand-tuning, for any instance size, on classical or quantum solvers.</a:t>
            </a:r>
            <a:endParaRPr lang="en-US" sz="1700" dirty="0"/>
          </a:p>
        </p:txBody>
      </p:sp>
    </p:spTree>
    <p:extLst>
      <p:ext uri="{BB962C8B-B14F-4D97-AF65-F5344CB8AC3E}">
        <p14:creationId xmlns:p14="http://schemas.microsoft.com/office/powerpoint/2010/main" val="205549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Literature Review</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5</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graphicFrame>
        <p:nvGraphicFramePr>
          <p:cNvPr id="142" name="Table 142"/>
          <p:cNvGraphicFramePr>
            <a:graphicFrameLocks noGrp="1"/>
          </p:cNvGraphicFramePr>
          <p:nvPr/>
        </p:nvGraphicFramePr>
        <p:xfrm>
          <a:off x="868680" y="1783080"/>
          <a:ext cx="10469880" cy="4206240"/>
        </p:xfrm>
        <a:graphic>
          <a:graphicData uri="http://schemas.openxmlformats.org/drawingml/2006/table">
            <a:tbl>
              <a:tblPr firstRow="1" bandRow="1"/>
              <a:tblGrid>
                <a:gridCol w="777240"/>
                <a:gridCol w="2697480"/>
                <a:gridCol w="3657600"/>
                <a:gridCol w="3337560"/>
              </a:tblGrid>
              <a:tr h="420624">
                <a:tc>
                  <a:txBody>
                    <a:bodyPr/>
                    <a:lstStyle/>
                    <a:p>
                      <a:pPr algn="l" marL="0" indent="0">
                        <a:spcBef>
                          <a:spcPts val="0"/>
                        </a:spcBef>
                        <a:spcAft>
                          <a:spcPts val="0"/>
                        </a:spcAft>
                        <a:buNone/>
                      </a:pPr>
                      <a:r>
                        <a:rPr lang="en-US" sz="1300" b="1" i="0" dirty="0">
                          <a:solidFill>
                            <a:srgbClr val="FFFFFF"/>
                          </a:solidFill>
                          <a:latin typeface="+mn-lt"/>
                        </a:rPr>
                        <a:t>Ref.</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l" marL="0" indent="0">
                        <a:spcBef>
                          <a:spcPts val="0"/>
                        </a:spcBef>
                        <a:spcAft>
                          <a:spcPts val="0"/>
                        </a:spcAft>
                        <a:buNone/>
                      </a:pPr>
                      <a:r>
                        <a:rPr lang="en-US" sz="1300" b="1" i="0" dirty="0">
                          <a:solidFill>
                            <a:srgbClr val="FFFFFF"/>
                          </a:solidFill>
                          <a:latin typeface="+mn-lt"/>
                        </a:rPr>
                        <a:t>Work</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l" marL="0" indent="0">
                        <a:spcBef>
                          <a:spcPts val="0"/>
                        </a:spcBef>
                        <a:spcAft>
                          <a:spcPts val="0"/>
                        </a:spcAft>
                        <a:buNone/>
                      </a:pPr>
                      <a:r>
                        <a:rPr lang="en-US" sz="1300" b="1" i="0" dirty="0">
                          <a:solidFill>
                            <a:srgbClr val="FFFFFF"/>
                          </a:solidFill>
                          <a:latin typeface="+mn-lt"/>
                        </a:rPr>
                        <a:t>Approach</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l" marL="0" indent="0">
                        <a:spcBef>
                          <a:spcPts val="0"/>
                        </a:spcBef>
                        <a:spcAft>
                          <a:spcPts val="0"/>
                        </a:spcAft>
                        <a:buNone/>
                      </a:pPr>
                      <a:r>
                        <a:rPr lang="en-US" sz="1300" b="1" i="0" dirty="0">
                          <a:solidFill>
                            <a:srgbClr val="FFFFFF"/>
                          </a:solidFill>
                          <a:latin typeface="+mn-lt"/>
                        </a:rPr>
                        <a:t>Limitation</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r>
              <a:tr h="420624">
                <a:tc>
                  <a:txBody>
                    <a:bodyPr/>
                    <a:lstStyle/>
                    <a:p>
                      <a:pPr algn="l" marL="0" indent="0">
                        <a:spcBef>
                          <a:spcPts val="0"/>
                        </a:spcBef>
                        <a:spcAft>
                          <a:spcPts val="0"/>
                        </a:spcAft>
                        <a:buNone/>
                      </a:pPr>
                      <a:r>
                        <a:rPr lang="en-US" sz="1200" b="0" i="0" dirty="0">
                          <a:solidFill>
                            <a:srgbClr val="1F2A33"/>
                          </a:solidFill>
                          <a:latin typeface="+mn-lt"/>
                        </a:rPr>
                        <a:t>[2], [3]</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Lucas 2014; Glover et al. 2019</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One fixed λ, set by hand or grid search</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Ignores solver feedback; same λ for every rule</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200" b="0" i="0" dirty="0">
                          <a:solidFill>
                            <a:srgbClr val="1F2A33"/>
                          </a:solidFill>
                          <a:latin typeface="+mn-lt"/>
                        </a:rPr>
                        <a:t>[5]</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Ayanzadeh et al. 2020</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Learning automata adjust per-constraint penalties (SAT, annealer)</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Re-learned from scratch for each instance</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200" b="0" i="0" dirty="0">
                          <a:solidFill>
                            <a:srgbClr val="1F2A33"/>
                          </a:solidFill>
                          <a:latin typeface="+mn-lt"/>
                        </a:rPr>
                        <a:t>[6], [7]</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Garcia et al. 2022; Liu &amp; Moraglio 2025</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Exact / sequential / multiple penalty weights by rules</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Per instance and rule-based; not learned</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200" b="0" i="0" dirty="0">
                          <a:solidFill>
                            <a:srgbClr val="1F2A33"/>
                          </a:solidFill>
                          <a:latin typeface="+mn-lt"/>
                        </a:rPr>
                        <a:t>[8]</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Rusnáková et al. 2025</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Machine learning predicts λ once before solving</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One scalar; no adaptation while solving</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200" b="0" i="0" dirty="0">
                          <a:solidFill>
                            <a:srgbClr val="1F2A33"/>
                          </a:solidFill>
                          <a:latin typeface="+mn-lt"/>
                        </a:rPr>
                        <a:t>[9]</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Alessandroni et al. 2026</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Penalty weights derived analytically</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Fixed before solving; not learned</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200" b="0" i="0" dirty="0">
                          <a:solidFill>
                            <a:srgbClr val="1F2A33"/>
                          </a:solidFill>
                          <a:latin typeface="+mn-lt"/>
                        </a:rPr>
                        <a:t>[10]</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Ferrari et al. 2026</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Penalty schedule inside QAOA</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Re-optimised per instance; QAOA only</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200" b="0" i="0" dirty="0">
                          <a:solidFill>
                            <a:srgbClr val="1F2A33"/>
                          </a:solidFill>
                          <a:latin typeface="+mn-lt"/>
                        </a:rPr>
                        <a:t>[11]</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Rezk &amp; Gora 2026</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GNN coarsening + adaptive penalties for vehicle routing</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Penalty update is a hand-written rule</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200" b="0" i="0" dirty="0">
                          <a:solidFill>
                            <a:srgbClr val="1F2A33"/>
                          </a:solidFill>
                          <a:latin typeface="+mn-lt"/>
                        </a:rPr>
                        <a:t>[12]</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Sharma &amp; Lau 2026</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Reinforcement learning sets penalty values</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l" marL="0" indent="0">
                        <a:spcBef>
                          <a:spcPts val="0"/>
                        </a:spcBef>
                        <a:spcAft>
                          <a:spcPts val="0"/>
                        </a:spcAft>
                        <a:buNone/>
                      </a:pPr>
                      <a:r>
                        <a:rPr lang="en-US" sz="1200" b="0" i="0" dirty="0">
                          <a:solidFill>
                            <a:srgbClr val="1F2A33"/>
                          </a:solidFill>
                          <a:latin typeface="+mn-lt"/>
                        </a:rPr>
                        <a:t>Two global values, set once per instance</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200" b="0" i="0" dirty="0">
                          <a:solidFill>
                            <a:srgbClr val="1F2A33"/>
                          </a:solidFill>
                          <a:latin typeface="+mn-lt"/>
                        </a:rPr>
                        <a:t>[13]</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Cellini et al. 2024 (QAL-BP)</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Augmented Lagrangian QUBO for bin packing</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l" marL="0" indent="0">
                        <a:spcBef>
                          <a:spcPts val="0"/>
                        </a:spcBef>
                        <a:spcAft>
                          <a:spcPts val="0"/>
                        </a:spcAft>
                        <a:buNone/>
                      </a:pPr>
                      <a:r>
                        <a:rPr lang="en-US" sz="1200" b="0" i="0" dirty="0">
                          <a:solidFill>
                            <a:srgbClr val="1F2A33"/>
                          </a:solidFill>
                          <a:latin typeface="+mn-lt"/>
                        </a:rPr>
                        <a:t>Classical multiplier update; not learned</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bl>
          </a:graphicData>
        </a:graphic>
      </p:graphicFrame>
    </p:spTree>
    <p:extLst>
      <p:ext uri="{BB962C8B-B14F-4D97-AF65-F5344CB8AC3E}">
        <p14:creationId xmlns:p14="http://schemas.microsoft.com/office/powerpoint/2010/main" val="72210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Research Gaps and Novelty</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6</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graphicFrame>
        <p:nvGraphicFramePr>
          <p:cNvPr id="143" name="Table 143"/>
          <p:cNvGraphicFramePr>
            <a:graphicFrameLocks noGrp="1"/>
          </p:cNvGraphicFramePr>
          <p:nvPr/>
        </p:nvGraphicFramePr>
        <p:xfrm>
          <a:off x="868680" y="1783080"/>
          <a:ext cx="10469880" cy="3182112"/>
        </p:xfrm>
        <a:graphic>
          <a:graphicData uri="http://schemas.openxmlformats.org/drawingml/2006/table">
            <a:tbl>
              <a:tblPr firstRow="1" bandRow="1"/>
              <a:tblGrid>
                <a:gridCol w="2880360"/>
                <a:gridCol w="1517904"/>
                <a:gridCol w="1517904"/>
                <a:gridCol w="1517904"/>
                <a:gridCol w="1517904"/>
                <a:gridCol w="1517904"/>
              </a:tblGrid>
              <a:tr h="658368">
                <a:tc>
                  <a:txBody>
                    <a:bodyPr/>
                    <a:lstStyle/>
                    <a:p>
                      <a:pPr algn="l" marL="0" indent="0">
                        <a:spcBef>
                          <a:spcPts val="0"/>
                        </a:spcBef>
                        <a:spcAft>
                          <a:spcPts val="0"/>
                        </a:spcAft>
                        <a:buNone/>
                      </a:pPr>
                      <a:r>
                        <a:rPr lang="en-US" sz="1200" b="1" i="0" dirty="0">
                          <a:solidFill>
                            <a:srgbClr val="FFFFFF"/>
                          </a:solidFill>
                          <a:latin typeface="+mn-lt"/>
                        </a:rPr>
                        <a:t>Method</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ctr" marL="0" indent="0">
                        <a:spcBef>
                          <a:spcPts val="0"/>
                        </a:spcBef>
                        <a:spcAft>
                          <a:spcPts val="0"/>
                        </a:spcAft>
                        <a:buNone/>
                      </a:pPr>
                      <a:r>
                        <a:rPr lang="en-US" sz="1200" b="1" i="0" dirty="0">
                          <a:solidFill>
                            <a:srgbClr val="FFFFFF"/>
                          </a:solidFill>
                          <a:latin typeface="+mn-lt"/>
                        </a:rPr>
                        <a:t>Separate penalty per rule</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ctr" marL="0" indent="0">
                        <a:spcBef>
                          <a:spcPts val="0"/>
                        </a:spcBef>
                        <a:spcAft>
                          <a:spcPts val="0"/>
                        </a:spcAft>
                        <a:buNone/>
                      </a:pPr>
                      <a:r>
                        <a:rPr lang="en-US" sz="1200" b="1" i="0" dirty="0">
                          <a:solidFill>
                            <a:srgbClr val="FFFFFF"/>
                          </a:solidFill>
                          <a:latin typeface="+mn-lt"/>
                        </a:rPr>
                        <a:t>Adapts while solving</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ctr" marL="0" indent="0">
                        <a:spcBef>
                          <a:spcPts val="0"/>
                        </a:spcBef>
                        <a:spcAft>
                          <a:spcPts val="0"/>
                        </a:spcAft>
                        <a:buNone/>
                      </a:pPr>
                      <a:r>
                        <a:rPr lang="en-US" sz="1200" b="1" i="0" dirty="0">
                          <a:solidFill>
                            <a:srgbClr val="FFFFFF"/>
                          </a:solidFill>
                          <a:latin typeface="+mn-lt"/>
                        </a:rPr>
                        <a:t>Learned policy</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ctr" marL="0" indent="0">
                        <a:spcBef>
                          <a:spcPts val="0"/>
                        </a:spcBef>
                        <a:spcAft>
                          <a:spcPts val="0"/>
                        </a:spcAft>
                        <a:buNone/>
                      </a:pPr>
                      <a:r>
                        <a:rPr lang="en-US" sz="1200" b="1" i="0" dirty="0">
                          <a:solidFill>
                            <a:srgbClr val="FFFFFF"/>
                          </a:solidFill>
                          <a:latin typeface="+mn-lt"/>
                        </a:rPr>
                        <a:t>Transfers to new / larger instances</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c>
                  <a:txBody>
                    <a:bodyPr/>
                    <a:lstStyle/>
                    <a:p>
                      <a:pPr algn="ctr" marL="0" indent="0">
                        <a:spcBef>
                          <a:spcPts val="0"/>
                        </a:spcBef>
                        <a:spcAft>
                          <a:spcPts val="0"/>
                        </a:spcAft>
                        <a:buNone/>
                      </a:pPr>
                      <a:r>
                        <a:rPr lang="en-US" sz="1200" b="1" i="0" dirty="0">
                          <a:solidFill>
                            <a:srgbClr val="FFFFFF"/>
                          </a:solidFill>
                          <a:latin typeface="+mn-lt"/>
                        </a:rPr>
                        <a:t>Classical and quantum solvers</a:t>
                      </a:r>
                      <a:endParaRPr lang="en-US" sz="12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12355B"/>
                    </a:solidFill>
                  </a:tcPr>
                </a:tc>
              </a:tr>
              <a:tr h="420624">
                <a:tc>
                  <a:txBody>
                    <a:bodyPr/>
                    <a:lstStyle/>
                    <a:p>
                      <a:pPr algn="l" marL="0" indent="0">
                        <a:spcBef>
                          <a:spcPts val="0"/>
                        </a:spcBef>
                        <a:spcAft>
                          <a:spcPts val="0"/>
                        </a:spcAft>
                        <a:buNone/>
                      </a:pPr>
                      <a:r>
                        <a:rPr lang="en-US" sz="1300" b="0" i="0" dirty="0">
                          <a:solidFill>
                            <a:srgbClr val="1F2A33"/>
                          </a:solidFill>
                          <a:latin typeface="+mn-lt"/>
                        </a:rPr>
                        <a:t>Fixed / grid-tuned λ [2], [3]</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300" b="0" i="0" dirty="0">
                          <a:solidFill>
                            <a:srgbClr val="1F2A33"/>
                          </a:solidFill>
                          <a:latin typeface="+mn-lt"/>
                        </a:rPr>
                        <a:t>Ayanzadeh et al. 2020 [5]</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D98C1F"/>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300" b="0" i="0" dirty="0">
                          <a:solidFill>
                            <a:srgbClr val="1F2A33"/>
                          </a:solidFill>
                          <a:latin typeface="+mn-lt"/>
                        </a:rPr>
                        <a:t>Rusnáková et al. 2025 [8]</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300" b="0" i="0" dirty="0">
                          <a:solidFill>
                            <a:srgbClr val="1F2A33"/>
                          </a:solidFill>
                          <a:latin typeface="+mn-lt"/>
                        </a:rPr>
                        <a:t>Ferrari et al. 2026 [10]</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D98C1F"/>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1F3F4"/>
                    </a:solidFill>
                  </a:tcPr>
                </a:tc>
              </a:tr>
              <a:tr h="420624">
                <a:tc>
                  <a:txBody>
                    <a:bodyPr/>
                    <a:lstStyle/>
                    <a:p>
                      <a:pPr algn="l" marL="0" indent="0">
                        <a:spcBef>
                          <a:spcPts val="0"/>
                        </a:spcBef>
                        <a:spcAft>
                          <a:spcPts val="0"/>
                        </a:spcAft>
                        <a:buNone/>
                      </a:pPr>
                      <a:r>
                        <a:rPr lang="en-US" sz="1300" b="0" i="0" dirty="0">
                          <a:solidFill>
                            <a:srgbClr val="1F2A33"/>
                          </a:solidFill>
                          <a:latin typeface="+mn-lt"/>
                        </a:rPr>
                        <a:t>Sharma &amp; Lau 2026 [12]</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D98C1F"/>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c>
                  <a:txBody>
                    <a:bodyPr/>
                    <a:lstStyle/>
                    <a:p>
                      <a:pPr algn="ctr" marL="0" indent="0">
                        <a:spcBef>
                          <a:spcPts val="0"/>
                        </a:spcBef>
                        <a:spcAft>
                          <a:spcPts val="0"/>
                        </a:spcAft>
                        <a:buNone/>
                      </a:pPr>
                      <a:r>
                        <a:rPr lang="en-US" sz="1800" b="1" i="0" dirty="0">
                          <a:solidFill>
                            <a:srgbClr val="A3ACB1"/>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FFFFF"/>
                    </a:solidFill>
                  </a:tcPr>
                </a:tc>
              </a:tr>
              <a:tr h="420624">
                <a:tc>
                  <a:txBody>
                    <a:bodyPr/>
                    <a:lstStyle/>
                    <a:p>
                      <a:pPr algn="l" marL="0" indent="0">
                        <a:spcBef>
                          <a:spcPts val="0"/>
                        </a:spcBef>
                        <a:spcAft>
                          <a:spcPts val="0"/>
                        </a:spcAft>
                        <a:buNone/>
                      </a:pPr>
                      <a:r>
                        <a:rPr lang="en-US" sz="1300" b="1" i="0" dirty="0">
                          <a:solidFill>
                            <a:srgbClr val="12355B"/>
                          </a:solidFill>
                          <a:latin typeface="+mn-lt"/>
                        </a:rPr>
                        <a:t>GRAL (this work)</a:t>
                      </a:r>
                      <a:endParaRPr lang="en-US" sz="13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c>
                  <a:txBody>
                    <a:bodyPr/>
                    <a:lstStyle/>
                    <a:p>
                      <a:pPr algn="ctr" marL="0" indent="0">
                        <a:spcBef>
                          <a:spcPts val="0"/>
                        </a:spcBef>
                        <a:spcAft>
                          <a:spcPts val="0"/>
                        </a:spcAft>
                        <a:buNone/>
                      </a:pPr>
                      <a:r>
                        <a:rPr lang="en-US" sz="1800" b="1" i="0" dirty="0">
                          <a:solidFill>
                            <a:srgbClr val="1B7F79"/>
                          </a:solidFill>
                          <a:latin typeface="+mn-lt"/>
                        </a:rPr>
                        <a:t>✓</a:t>
                      </a:r>
                      <a:endParaRPr lang="en-US" sz="1800" dirty="0"/>
                    </a:p>
                  </a:txBody>
                  <a:tcPr marL="73152" marR="73152" marT="36576" marB="36576" anchor="ctr">
                    <a:lnL w="6350">
                      <a:solidFill>
                        <a:srgbClr val="D5DADD"/>
                      </a:solidFill>
                    </a:lnL>
                    <a:lnR w="6350">
                      <a:solidFill>
                        <a:srgbClr val="D5DADD"/>
                      </a:solidFill>
                    </a:lnR>
                    <a:lnT w="6350">
                      <a:solidFill>
                        <a:srgbClr val="D5DADD"/>
                      </a:solidFill>
                    </a:lnT>
                    <a:lnB w="6350">
                      <a:solidFill>
                        <a:srgbClr val="D5DADD"/>
                      </a:solidFill>
                    </a:lnB>
                    <a:solidFill>
                      <a:srgbClr val="FCEFD9"/>
                    </a:solidFill>
                  </a:tcPr>
                </a:tc>
              </a:tr>
            </a:tbl>
          </a:graphicData>
        </a:graphic>
      </p:graphicFrame>
      <p:sp>
        <p:nvSpPr>
          <p:cNvPr id="144" name="TextBox 144"/>
          <p:cNvSpPr txBox="1"/>
          <p:nvPr/>
        </p:nvSpPr>
        <p:spPr>
          <a:xfrm>
            <a:off x="868680" y="5029200"/>
            <a:ext cx="10469880" cy="27432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200" b="0" i="0" dirty="0">
                <a:solidFill>
                  <a:srgbClr val="5B6770"/>
                </a:solidFill>
                <a:latin typeface="+mn-lt"/>
              </a:rPr>
              <a:t>✓ yes     ~ partly     ✗ no</a:t>
            </a:r>
            <a:endParaRPr lang="en-US" sz="1200" dirty="0"/>
          </a:p>
        </p:txBody>
      </p:sp>
      <p:sp>
        <p:nvSpPr>
          <p:cNvPr id="145" name="Card 145"/>
          <p:cNvSpPr/>
          <p:nvPr/>
        </p:nvSpPr>
        <p:spPr>
          <a:xfrm>
            <a:off x="868680" y="5349240"/>
            <a:ext cx="10469880" cy="777240"/>
          </a:xfrm>
          <a:prstGeom prst="roundRect">
            <a:avLst>
              <a:gd name="adj" fmla="val 6000"/>
            </a:avLst>
          </a:prstGeom>
          <a:solidFill>
            <a:srgbClr val="12355B"/>
          </a:solidFill>
          <a:ln>
            <a:noFill/>
          </a:ln>
        </p:spPr>
        <p:txBody>
          <a:bodyPr wrap="square" lIns="228600" tIns="54864" rIns="228600" bIns="54864" anchor="ctr" rtlCol="0">
            <a:noAutofit/>
          </a:bodyPr>
          <a:lstStyle/>
          <a:p>
            <a:pPr algn="l" marL="0" indent="0">
              <a:spcBef>
                <a:spcPts val="0"/>
              </a:spcBef>
              <a:spcAft>
                <a:spcPts val="0"/>
              </a:spcAft>
              <a:buNone/>
            </a:pPr>
            <a:r>
              <a:rPr lang="en-US" sz="1500" b="1" i="0" dirty="0">
                <a:solidFill>
                  <a:srgbClr val="FFFFFF"/>
                </a:solidFill>
                <a:latin typeface="+mn-lt"/>
              </a:rPr>
              <a:t xml:space="preserve">Gap: </a:t>
            </a:r>
            <a:r>
              <a:rPr lang="en-US" sz="1500" b="0" i="0" dirty="0">
                <a:solidFill>
                  <a:srgbClr val="FFFFFF"/>
                </a:solidFill>
                <a:latin typeface="+mn-lt"/>
              </a:rPr>
              <a:t>no existing method has all five. GRAL is a trained, per-constraint, online penalty controller that transfers across instance sizes and solvers — an open problem named in a 2026 review [14].</a:t>
            </a:r>
            <a:endParaRPr lang="en-US" sz="1500" dirty="0"/>
          </a:p>
        </p:txBody>
      </p:sp>
    </p:spTree>
    <p:extLst>
      <p:ext uri="{BB962C8B-B14F-4D97-AF65-F5344CB8AC3E}">
        <p14:creationId xmlns:p14="http://schemas.microsoft.com/office/powerpoint/2010/main" val="353515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Problem Statement</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7</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46" name="Card 146"/>
          <p:cNvSpPr/>
          <p:nvPr/>
        </p:nvSpPr>
        <p:spPr>
          <a:xfrm>
            <a:off x="868680" y="1783080"/>
            <a:ext cx="10469880" cy="2148840"/>
          </a:xfrm>
          <a:prstGeom prst="roundRect">
            <a:avLst>
              <a:gd name="adj" fmla="val 6000"/>
            </a:avLst>
          </a:prstGeom>
          <a:solidFill>
            <a:srgbClr val="E3F1EF"/>
          </a:solidFill>
          <a:ln>
            <a:noFill/>
          </a:ln>
        </p:spPr>
        <p:txBody>
          <a:bodyPr wrap="square" lIns="320040" tIns="137160" rIns="320040" bIns="137160" anchor="ctr" rtlCol="0">
            <a:noAutofit/>
          </a:bodyPr>
          <a:lstStyle/>
          <a:p>
            <a:pPr algn="l" marL="0" indent="0">
              <a:lnSpc>
                <a:spcPct val="105000"/>
              </a:lnSpc>
              <a:spcBef>
                <a:spcPts val="0"/>
              </a:spcBef>
              <a:spcAft>
                <a:spcPts val="0"/>
              </a:spcAft>
              <a:buNone/>
            </a:pPr>
            <a:r>
              <a:rPr lang="en-US" sz="1800" b="0" i="0" dirty="0">
                <a:solidFill>
                  <a:srgbClr val="1F2A33"/>
                </a:solidFill>
                <a:latin typeface="+mn-lt"/>
              </a:rPr>
              <a:t>Given a constrained combinatorial problem — here the TSP — written as a QUBO with a separate penalty for every constraint, design a learned controller that watches what the solver returns in each round and resets every penalty, so that within a fixed solver budget the solver finds valid, near-optimal tours. One trained controller must work on unseen and larger instances, and with both a classical solver (simulated annealing) and a quantum one (QAOA), with no per-instance tuning.</a:t>
            </a:r>
            <a:endParaRPr lang="en-US" sz="1800" dirty="0"/>
          </a:p>
        </p:txBody>
      </p:sp>
      <p:sp>
        <p:nvSpPr>
          <p:cNvPr id="147" name="Card 147"/>
          <p:cNvSpPr/>
          <p:nvPr/>
        </p:nvSpPr>
        <p:spPr>
          <a:xfrm>
            <a:off x="868680" y="4160520"/>
            <a:ext cx="3291840" cy="1920240"/>
          </a:xfrm>
          <a:prstGeom prst="roundRect">
            <a:avLst>
              <a:gd name="adj" fmla="val 6000"/>
            </a:avLst>
          </a:prstGeom>
          <a:solidFill>
            <a:srgbClr val="F1F3F4"/>
          </a:solidFill>
          <a:ln>
            <a:noFill/>
          </a:ln>
        </p:spPr>
        <p:txBody>
          <a:bodyPr wrap="square" lIns="164592" tIns="128016" rIns="164592" bIns="109728" anchor="t" rtlCol="0">
            <a:noAutofit/>
          </a:bodyPr>
          <a:lstStyle/>
          <a:p>
            <a:pPr algn="l" marL="0" indent="0">
              <a:spcBef>
                <a:spcPts val="0"/>
              </a:spcBef>
              <a:spcAft>
                <a:spcPts val="600"/>
              </a:spcAft>
              <a:buNone/>
            </a:pPr>
            <a:r>
              <a:rPr lang="en-US" sz="1700" b="1" i="0" dirty="0">
                <a:solidFill>
                  <a:srgbClr val="12355B"/>
                </a:solidFill>
                <a:latin typeface="+mn-lt"/>
              </a:rPr>
              <a:t>Input</a:t>
            </a:r>
            <a:endParaRPr lang="en-US" sz="1700" dirty="0"/>
          </a:p>
          <a:p>
            <a:pPr algn="l" marL="0" indent="0">
              <a:spcBef>
                <a:spcPts val="0"/>
              </a:spcBef>
              <a:spcAft>
                <a:spcPts val="0"/>
              </a:spcAft>
              <a:buNone/>
            </a:pPr>
            <a:r>
              <a:rPr lang="en-US" sz="1400" b="0" i="0" dirty="0">
                <a:solidFill>
                  <a:srgbClr val="1F2A33"/>
                </a:solidFill>
                <a:latin typeface="+mn-lt"/>
              </a:rPr>
              <a:t>A TSP instance (n cities → (n−1)</a:t>
            </a:r>
            <a:r>
              <a:rPr lang="en-US" sz="1400" b="0" i="0" baseline="30000" dirty="0">
                <a:solidFill>
                  <a:srgbClr val="1F2A33"/>
                </a:solidFill>
                <a:latin typeface="+mn-lt"/>
              </a:rPr>
              <a:t>2</a:t>
            </a:r>
            <a:r>
              <a:rPr lang="en-US" sz="1400" b="0" i="0" dirty="0">
                <a:solidFill>
                  <a:srgbClr val="1F2A33"/>
                </a:solidFill>
                <a:latin typeface="+mn-lt"/>
              </a:rPr>
              <a:t xml:space="preserve"> binary variables) and a solver with a fixed budget: rounds × samples × sweeps.</a:t>
            </a:r>
            <a:endParaRPr lang="en-US" sz="1400" dirty="0"/>
          </a:p>
        </p:txBody>
      </p:sp>
      <p:sp>
        <p:nvSpPr>
          <p:cNvPr id="148" name="Card 148"/>
          <p:cNvSpPr/>
          <p:nvPr/>
        </p:nvSpPr>
        <p:spPr>
          <a:xfrm>
            <a:off x="4389120" y="4160520"/>
            <a:ext cx="3291840" cy="1920240"/>
          </a:xfrm>
          <a:prstGeom prst="roundRect">
            <a:avLst>
              <a:gd name="adj" fmla="val 6000"/>
            </a:avLst>
          </a:prstGeom>
          <a:solidFill>
            <a:srgbClr val="F1F3F4"/>
          </a:solidFill>
          <a:ln>
            <a:noFill/>
          </a:ln>
        </p:spPr>
        <p:txBody>
          <a:bodyPr wrap="square" lIns="164592" tIns="128016" rIns="164592" bIns="109728" anchor="t" rtlCol="0">
            <a:noAutofit/>
          </a:bodyPr>
          <a:lstStyle/>
          <a:p>
            <a:pPr algn="l" marL="0" indent="0">
              <a:spcBef>
                <a:spcPts val="0"/>
              </a:spcBef>
              <a:spcAft>
                <a:spcPts val="600"/>
              </a:spcAft>
              <a:buNone/>
            </a:pPr>
            <a:r>
              <a:rPr lang="en-US" sz="1700" b="1" i="0" dirty="0">
                <a:solidFill>
                  <a:srgbClr val="12355B"/>
                </a:solidFill>
                <a:latin typeface="+mn-lt"/>
              </a:rPr>
              <a:t>Output</a:t>
            </a:r>
            <a:endParaRPr lang="en-US" sz="1700" dirty="0"/>
          </a:p>
          <a:p>
            <a:pPr algn="l" marL="0" indent="0">
              <a:spcBef>
                <a:spcPts val="0"/>
              </a:spcBef>
              <a:spcAft>
                <a:spcPts val="0"/>
              </a:spcAft>
              <a:buNone/>
            </a:pPr>
            <a:r>
              <a:rPr lang="en-US" sz="1400" b="0" i="0" dirty="0">
                <a:solidFill>
                  <a:srgbClr val="1F2A33"/>
                </a:solidFill>
                <a:latin typeface="+mn-lt"/>
              </a:rPr>
              <a:t>In every round, a weight w</a:t>
            </a:r>
            <a:r>
              <a:rPr lang="en-US" sz="1400" b="0" i="0" baseline="-25000" dirty="0">
                <a:solidFill>
                  <a:srgbClr val="1F2A33"/>
                </a:solidFill>
                <a:latin typeface="+mn-lt"/>
              </a:rPr>
              <a:t>c</a:t>
            </a:r>
            <a:r>
              <a:rPr lang="en-US" sz="1400" b="0" i="0" dirty="0">
                <a:solidFill>
                  <a:srgbClr val="1F2A33"/>
                </a:solidFill>
                <a:latin typeface="+mn-lt"/>
              </a:rPr>
              <a:t xml:space="preserve"> and a multiplier μ</a:t>
            </a:r>
            <a:r>
              <a:rPr lang="en-US" sz="1400" b="0" i="0" baseline="-25000" dirty="0">
                <a:solidFill>
                  <a:srgbClr val="1F2A33"/>
                </a:solidFill>
                <a:latin typeface="+mn-lt"/>
              </a:rPr>
              <a:t>c</a:t>
            </a:r>
            <a:r>
              <a:rPr lang="en-US" sz="1400" b="0" i="0" dirty="0">
                <a:solidFill>
                  <a:srgbClr val="1F2A33"/>
                </a:solidFill>
                <a:latin typeface="+mn-lt"/>
              </a:rPr>
              <a:t xml:space="preserve"> for each of the 2(n−1) constraints.</a:t>
            </a:r>
            <a:endParaRPr lang="en-US" sz="1400" dirty="0"/>
          </a:p>
        </p:txBody>
      </p:sp>
      <p:sp>
        <p:nvSpPr>
          <p:cNvPr id="149" name="Card 149"/>
          <p:cNvSpPr/>
          <p:nvPr/>
        </p:nvSpPr>
        <p:spPr>
          <a:xfrm>
            <a:off x="7909560" y="4160520"/>
            <a:ext cx="3291840" cy="1920240"/>
          </a:xfrm>
          <a:prstGeom prst="roundRect">
            <a:avLst>
              <a:gd name="adj" fmla="val 6000"/>
            </a:avLst>
          </a:prstGeom>
          <a:solidFill>
            <a:srgbClr val="F1F3F4"/>
          </a:solidFill>
          <a:ln>
            <a:noFill/>
          </a:ln>
        </p:spPr>
        <p:txBody>
          <a:bodyPr wrap="square" lIns="164592" tIns="128016" rIns="164592" bIns="109728" anchor="t" rtlCol="0">
            <a:noAutofit/>
          </a:bodyPr>
          <a:lstStyle/>
          <a:p>
            <a:pPr algn="l" marL="0" indent="0">
              <a:spcBef>
                <a:spcPts val="0"/>
              </a:spcBef>
              <a:spcAft>
                <a:spcPts val="600"/>
              </a:spcAft>
              <a:buNone/>
            </a:pPr>
            <a:r>
              <a:rPr lang="en-US" sz="1700" b="1" i="0" dirty="0">
                <a:solidFill>
                  <a:srgbClr val="12355B"/>
                </a:solidFill>
                <a:latin typeface="+mn-lt"/>
              </a:rPr>
              <a:t>Success is measured by</a:t>
            </a:r>
            <a:endParaRPr lang="en-US" sz="1700" dirty="0"/>
          </a:p>
          <a:p>
            <a:pPr algn="l" marL="0" indent="0">
              <a:spcBef>
                <a:spcPts val="0"/>
              </a:spcBef>
              <a:spcAft>
                <a:spcPts val="0"/>
              </a:spcAft>
              <a:buNone/>
            </a:pPr>
            <a:r>
              <a:rPr lang="en-US" sz="1400" b="0" i="0" dirty="0">
                <a:solidFill>
                  <a:srgbClr val="1F2A33"/>
                </a:solidFill>
                <a:latin typeface="+mn-lt"/>
              </a:rPr>
              <a:t>Optimality gap to the known optimum, % of valid samples, and statistical tests against baselines at the same budget.</a:t>
            </a:r>
            <a:endParaRPr lang="en-US" sz="1400" dirty="0"/>
          </a:p>
        </p:txBody>
      </p:sp>
    </p:spTree>
    <p:extLst>
      <p:ext uri="{BB962C8B-B14F-4D97-AF65-F5344CB8AC3E}">
        <p14:creationId xmlns:p14="http://schemas.microsoft.com/office/powerpoint/2010/main" val="3347340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Objectives</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8</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50" name="Badge 150"/>
          <p:cNvSpPr/>
          <p:nvPr/>
        </p:nvSpPr>
        <p:spPr>
          <a:xfrm>
            <a:off x="868680" y="1847088"/>
            <a:ext cx="640080" cy="640080"/>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500" b="1" i="0" dirty="0">
                <a:solidFill>
                  <a:srgbClr val="FFFFFF"/>
                </a:solidFill>
                <a:latin typeface="+mn-lt"/>
              </a:rPr>
              <a:t>O1</a:t>
            </a:r>
            <a:endParaRPr lang="en-US" sz="1500" dirty="0"/>
          </a:p>
        </p:txBody>
      </p:sp>
      <p:sp>
        <p:nvSpPr>
          <p:cNvPr id="151" name="TextBox 151"/>
          <p:cNvSpPr txBox="1"/>
          <p:nvPr/>
        </p:nvSpPr>
        <p:spPr>
          <a:xfrm>
            <a:off x="1737360" y="1783080"/>
            <a:ext cx="7863840" cy="77724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700" b="1" i="0" dirty="0">
                <a:solidFill>
                  <a:srgbClr val="12355B"/>
                </a:solidFill>
                <a:latin typeface="+mn-lt"/>
              </a:rPr>
              <a:t>Formulate</a:t>
            </a:r>
            <a:endParaRPr lang="en-US" sz="1700" dirty="0"/>
          </a:p>
          <a:p>
            <a:pPr algn="l" marL="0" indent="0">
              <a:spcBef>
                <a:spcPts val="0"/>
              </a:spcBef>
              <a:spcAft>
                <a:spcPts val="0"/>
              </a:spcAft>
              <a:buNone/>
            </a:pPr>
            <a:r>
              <a:rPr lang="en-US" sz="1400" b="0" i="0" dirty="0">
                <a:solidFill>
                  <a:srgbClr val="1F2A33"/>
                </a:solidFill>
                <a:latin typeface="+mn-lt"/>
              </a:rPr>
              <a:t>Encode TSP as a per-constraint augmented-Lagrangian QUBO; build exact (Held–Karp), simulated-annealing and QAOA solvers.</a:t>
            </a:r>
            <a:endParaRPr lang="en-US" sz="1400" dirty="0"/>
          </a:p>
        </p:txBody>
      </p:sp>
      <p:sp>
        <p:nvSpPr>
          <p:cNvPr id="152" name="Status 152"/>
          <p:cNvSpPr/>
          <p:nvPr/>
        </p:nvSpPr>
        <p:spPr>
          <a:xfrm>
            <a:off x="9921240" y="1965960"/>
            <a:ext cx="1371600" cy="411480"/>
          </a:xfrm>
          <a:prstGeom prst="roundRect">
            <a:avLst>
              <a:gd name="adj" fmla="val 50000"/>
            </a:avLst>
          </a:prstGeom>
          <a:solidFill>
            <a:srgbClr val="E3F1EF"/>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1B7F79"/>
                </a:solidFill>
                <a:latin typeface="+mn-lt"/>
              </a:rPr>
              <a:t>Done</a:t>
            </a:r>
            <a:endParaRPr lang="en-US" sz="1300" dirty="0"/>
          </a:p>
        </p:txBody>
      </p:sp>
      <p:sp>
        <p:nvSpPr>
          <p:cNvPr id="153" name="Badge 153"/>
          <p:cNvSpPr/>
          <p:nvPr/>
        </p:nvSpPr>
        <p:spPr>
          <a:xfrm>
            <a:off x="868680" y="2724912"/>
            <a:ext cx="640080" cy="640080"/>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500" b="1" i="0" dirty="0">
                <a:solidFill>
                  <a:srgbClr val="FFFFFF"/>
                </a:solidFill>
                <a:latin typeface="+mn-lt"/>
              </a:rPr>
              <a:t>O2</a:t>
            </a:r>
            <a:endParaRPr lang="en-US" sz="1500" dirty="0"/>
          </a:p>
        </p:txBody>
      </p:sp>
      <p:sp>
        <p:nvSpPr>
          <p:cNvPr id="154" name="TextBox 154"/>
          <p:cNvSpPr txBox="1"/>
          <p:nvPr/>
        </p:nvSpPr>
        <p:spPr>
          <a:xfrm>
            <a:off x="1737360" y="2660904"/>
            <a:ext cx="7863840" cy="77724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700" b="1" i="0" dirty="0">
                <a:solidFill>
                  <a:srgbClr val="12355B"/>
                </a:solidFill>
                <a:latin typeface="+mn-lt"/>
              </a:rPr>
              <a:t>Design GRAL</a:t>
            </a:r>
            <a:endParaRPr lang="en-US" sz="1700" dirty="0"/>
          </a:p>
          <a:p>
            <a:pPr algn="l" marL="0" indent="0">
              <a:spcBef>
                <a:spcPts val="0"/>
              </a:spcBef>
              <a:spcAft>
                <a:spcPts val="0"/>
              </a:spcAft>
              <a:buNone/>
            </a:pPr>
            <a:r>
              <a:rPr lang="en-US" sz="1400" b="0" i="0" dirty="0">
                <a:solidFill>
                  <a:srgbClr val="1F2A33"/>
                </a:solidFill>
                <a:latin typeface="+mn-lt"/>
              </a:rPr>
              <a:t>Graph neural network policy on the constraint graph, trained with PPO, learning corrections on top of a classical update rule.</a:t>
            </a:r>
            <a:endParaRPr lang="en-US" sz="1400" dirty="0"/>
          </a:p>
        </p:txBody>
      </p:sp>
      <p:sp>
        <p:nvSpPr>
          <p:cNvPr id="155" name="Status 155"/>
          <p:cNvSpPr/>
          <p:nvPr/>
        </p:nvSpPr>
        <p:spPr>
          <a:xfrm>
            <a:off x="9921240" y="2843784"/>
            <a:ext cx="1371600" cy="411480"/>
          </a:xfrm>
          <a:prstGeom prst="roundRect">
            <a:avLst>
              <a:gd name="adj" fmla="val 50000"/>
            </a:avLst>
          </a:prstGeom>
          <a:solidFill>
            <a:srgbClr val="E3F1EF"/>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1B7F79"/>
                </a:solidFill>
                <a:latin typeface="+mn-lt"/>
              </a:rPr>
              <a:t>Done</a:t>
            </a:r>
            <a:endParaRPr lang="en-US" sz="1300" dirty="0"/>
          </a:p>
        </p:txBody>
      </p:sp>
      <p:sp>
        <p:nvSpPr>
          <p:cNvPr id="156" name="Badge 156"/>
          <p:cNvSpPr/>
          <p:nvPr/>
        </p:nvSpPr>
        <p:spPr>
          <a:xfrm>
            <a:off x="868680" y="3602736"/>
            <a:ext cx="640080" cy="640080"/>
          </a:xfrm>
          <a:prstGeom prst="ellipse">
            <a:avLst/>
          </a:prstGeom>
          <a:solidFill>
            <a:srgbClr val="1B7F79"/>
          </a:solidFill>
          <a:ln>
            <a:noFill/>
          </a:ln>
        </p:spPr>
        <p:txBody>
          <a:bodyPr wrap="square" lIns="0" tIns="0" rIns="0" bIns="0" anchor="ctr" rtlCol="0">
            <a:noAutofit/>
          </a:bodyPr>
          <a:lstStyle/>
          <a:p>
            <a:pPr algn="ctr" marL="0" indent="0">
              <a:spcBef>
                <a:spcPts val="0"/>
              </a:spcBef>
              <a:spcAft>
                <a:spcPts val="0"/>
              </a:spcAft>
              <a:buNone/>
            </a:pPr>
            <a:r>
              <a:rPr lang="en-US" sz="1500" b="1" i="0" dirty="0">
                <a:solidFill>
                  <a:srgbClr val="FFFFFF"/>
                </a:solidFill>
                <a:latin typeface="+mn-lt"/>
              </a:rPr>
              <a:t>O3</a:t>
            </a:r>
            <a:endParaRPr lang="en-US" sz="1500" dirty="0"/>
          </a:p>
        </p:txBody>
      </p:sp>
      <p:sp>
        <p:nvSpPr>
          <p:cNvPr id="157" name="TextBox 157"/>
          <p:cNvSpPr txBox="1"/>
          <p:nvPr/>
        </p:nvSpPr>
        <p:spPr>
          <a:xfrm>
            <a:off x="1737360" y="3538728"/>
            <a:ext cx="7863840" cy="77724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700" b="1" i="0" dirty="0">
                <a:solidFill>
                  <a:srgbClr val="12355B"/>
                </a:solidFill>
                <a:latin typeface="+mn-lt"/>
              </a:rPr>
              <a:t>Benchmark fairly</a:t>
            </a:r>
            <a:endParaRPr lang="en-US" sz="1700" dirty="0"/>
          </a:p>
          <a:p>
            <a:pPr algn="l" marL="0" indent="0">
              <a:spcBef>
                <a:spcPts val="0"/>
              </a:spcBef>
              <a:spcAft>
                <a:spcPts val="0"/>
              </a:spcAft>
              <a:buNone/>
            </a:pPr>
            <a:r>
              <a:rPr lang="en-US" sz="1400" b="0" i="0" dirty="0">
                <a:solidFill>
                  <a:srgbClr val="1F2A33"/>
                </a:solidFill>
                <a:latin typeface="+mn-lt"/>
              </a:rPr>
              <a:t>Five classical baselines plus a learned scalar baseline; same budget; random and official TSPLIB instances; Wilcoxon / Holm tests.</a:t>
            </a:r>
            <a:endParaRPr lang="en-US" sz="1400" dirty="0"/>
          </a:p>
        </p:txBody>
      </p:sp>
      <p:sp>
        <p:nvSpPr>
          <p:cNvPr id="158" name="Status 158"/>
          <p:cNvSpPr/>
          <p:nvPr/>
        </p:nvSpPr>
        <p:spPr>
          <a:xfrm>
            <a:off x="9921240" y="3721608"/>
            <a:ext cx="1371600" cy="411480"/>
          </a:xfrm>
          <a:prstGeom prst="roundRect">
            <a:avLst>
              <a:gd name="adj" fmla="val 50000"/>
            </a:avLst>
          </a:prstGeom>
          <a:solidFill>
            <a:srgbClr val="E3F1EF"/>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1B7F79"/>
                </a:solidFill>
                <a:latin typeface="+mn-lt"/>
              </a:rPr>
              <a:t>Done</a:t>
            </a:r>
            <a:endParaRPr lang="en-US" sz="1300" dirty="0"/>
          </a:p>
        </p:txBody>
      </p:sp>
      <p:sp>
        <p:nvSpPr>
          <p:cNvPr id="159" name="Badge 159"/>
          <p:cNvSpPr/>
          <p:nvPr/>
        </p:nvSpPr>
        <p:spPr>
          <a:xfrm>
            <a:off x="868680" y="4480560"/>
            <a:ext cx="640080" cy="640080"/>
          </a:xfrm>
          <a:prstGeom prst="ellipse">
            <a:avLst/>
          </a:prstGeom>
          <a:solidFill>
            <a:srgbClr val="12355B"/>
          </a:solidFill>
          <a:ln>
            <a:noFill/>
          </a:ln>
        </p:spPr>
        <p:txBody>
          <a:bodyPr wrap="square" lIns="0" tIns="0" rIns="0" bIns="0" anchor="ctr" rtlCol="0">
            <a:noAutofit/>
          </a:bodyPr>
          <a:lstStyle/>
          <a:p>
            <a:pPr algn="ctr" marL="0" indent="0">
              <a:spcBef>
                <a:spcPts val="0"/>
              </a:spcBef>
              <a:spcAft>
                <a:spcPts val="0"/>
              </a:spcAft>
              <a:buNone/>
            </a:pPr>
            <a:r>
              <a:rPr lang="en-US" sz="1500" b="1" i="0" dirty="0">
                <a:solidFill>
                  <a:srgbClr val="FFFFFF"/>
                </a:solidFill>
                <a:latin typeface="+mn-lt"/>
              </a:rPr>
              <a:t>O4</a:t>
            </a:r>
            <a:endParaRPr lang="en-US" sz="1500" dirty="0"/>
          </a:p>
        </p:txBody>
      </p:sp>
      <p:sp>
        <p:nvSpPr>
          <p:cNvPr id="160" name="TextBox 160"/>
          <p:cNvSpPr txBox="1"/>
          <p:nvPr/>
        </p:nvSpPr>
        <p:spPr>
          <a:xfrm>
            <a:off x="1737360" y="4416552"/>
            <a:ext cx="7863840" cy="77724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700" b="1" i="0" dirty="0">
                <a:solidFill>
                  <a:srgbClr val="12355B"/>
                </a:solidFill>
                <a:latin typeface="+mn-lt"/>
              </a:rPr>
              <a:t>Show transfer</a:t>
            </a:r>
            <a:endParaRPr lang="en-US" sz="1700" dirty="0"/>
          </a:p>
          <a:p>
            <a:pPr algn="l" marL="0" indent="0">
              <a:spcBef>
                <a:spcPts val="0"/>
              </a:spcBef>
              <a:spcAft>
                <a:spcPts val="0"/>
              </a:spcAft>
              <a:buNone/>
            </a:pPr>
            <a:r>
              <a:rPr lang="en-US" sz="1400" b="0" i="0" dirty="0">
                <a:solidFill>
                  <a:srgbClr val="1F2A33"/>
                </a:solidFill>
                <a:latin typeface="+mn-lt"/>
              </a:rPr>
              <a:t>One trained policy on unseen sizes (up to 29 cities, 784 variables) and on a quantum solver (QAOA) without retraining.</a:t>
            </a:r>
            <a:endParaRPr lang="en-US" sz="1400" dirty="0"/>
          </a:p>
        </p:txBody>
      </p:sp>
      <p:sp>
        <p:nvSpPr>
          <p:cNvPr id="161" name="Status 161"/>
          <p:cNvSpPr/>
          <p:nvPr/>
        </p:nvSpPr>
        <p:spPr>
          <a:xfrm>
            <a:off x="9921240" y="4599432"/>
            <a:ext cx="1371600" cy="411480"/>
          </a:xfrm>
          <a:prstGeom prst="roundRect">
            <a:avLst>
              <a:gd name="adj" fmla="val 50000"/>
            </a:avLst>
          </a:prstGeom>
          <a:solidFill>
            <a:srgbClr val="DDE5EE"/>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12355B"/>
                </a:solidFill>
                <a:latin typeface="+mn-lt"/>
              </a:rPr>
              <a:t>Initial</a:t>
            </a:r>
            <a:endParaRPr lang="en-US" sz="1300" dirty="0"/>
          </a:p>
        </p:txBody>
      </p:sp>
      <p:sp>
        <p:nvSpPr>
          <p:cNvPr id="162" name="Badge 162"/>
          <p:cNvSpPr/>
          <p:nvPr/>
        </p:nvSpPr>
        <p:spPr>
          <a:xfrm>
            <a:off x="868680" y="5358384"/>
            <a:ext cx="640080" cy="640080"/>
          </a:xfrm>
          <a:prstGeom prst="ellipse">
            <a:avLst/>
          </a:prstGeom>
          <a:solidFill>
            <a:srgbClr val="D98C1F"/>
          </a:solidFill>
          <a:ln>
            <a:noFill/>
          </a:ln>
        </p:spPr>
        <p:txBody>
          <a:bodyPr wrap="square" lIns="0" tIns="0" rIns="0" bIns="0" anchor="ctr" rtlCol="0">
            <a:noAutofit/>
          </a:bodyPr>
          <a:lstStyle/>
          <a:p>
            <a:pPr algn="ctr" marL="0" indent="0">
              <a:spcBef>
                <a:spcPts val="0"/>
              </a:spcBef>
              <a:spcAft>
                <a:spcPts val="0"/>
              </a:spcAft>
              <a:buNone/>
            </a:pPr>
            <a:r>
              <a:rPr lang="en-US" sz="1500" b="1" i="0" dirty="0">
                <a:solidFill>
                  <a:srgbClr val="FFFFFF"/>
                </a:solidFill>
                <a:latin typeface="+mn-lt"/>
              </a:rPr>
              <a:t>O5</a:t>
            </a:r>
            <a:endParaRPr lang="en-US" sz="1500" dirty="0"/>
          </a:p>
        </p:txBody>
      </p:sp>
      <p:sp>
        <p:nvSpPr>
          <p:cNvPr id="163" name="TextBox 163"/>
          <p:cNvSpPr txBox="1"/>
          <p:nvPr/>
        </p:nvSpPr>
        <p:spPr>
          <a:xfrm>
            <a:off x="1737360" y="5294376"/>
            <a:ext cx="7863840" cy="77724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700" b="1" i="0" dirty="0">
                <a:solidFill>
                  <a:srgbClr val="12355B"/>
                </a:solidFill>
                <a:latin typeface="+mn-lt"/>
              </a:rPr>
              <a:t>Extend and publish</a:t>
            </a:r>
            <a:endParaRPr lang="en-US" sz="1700" dirty="0"/>
          </a:p>
          <a:p>
            <a:pPr algn="l" marL="0" indent="0">
              <a:spcBef>
                <a:spcPts val="0"/>
              </a:spcBef>
              <a:spcAft>
                <a:spcPts val="0"/>
              </a:spcAft>
              <a:buNone/>
            </a:pPr>
            <a:r>
              <a:rPr lang="en-US" sz="1400" b="0" i="0" dirty="0">
                <a:solidFill>
                  <a:srgbClr val="1F2A33"/>
                </a:solidFill>
                <a:latin typeface="+mn-lt"/>
              </a:rPr>
              <a:t>Second problem type, stronger baselines, noisy and real quantum hardware; conference paper and thesis.</a:t>
            </a:r>
            <a:endParaRPr lang="en-US" sz="1400" dirty="0"/>
          </a:p>
        </p:txBody>
      </p:sp>
      <p:sp>
        <p:nvSpPr>
          <p:cNvPr id="164" name="Status 164"/>
          <p:cNvSpPr/>
          <p:nvPr/>
        </p:nvSpPr>
        <p:spPr>
          <a:xfrm>
            <a:off x="9921240" y="5477256"/>
            <a:ext cx="1371600" cy="411480"/>
          </a:xfrm>
          <a:prstGeom prst="roundRect">
            <a:avLst>
              <a:gd name="adj" fmla="val 50000"/>
            </a:avLst>
          </a:prstGeom>
          <a:solidFill>
            <a:srgbClr val="FCEFD9"/>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D98C1F"/>
                </a:solidFill>
                <a:latin typeface="+mn-lt"/>
              </a:rPr>
              <a:t>Sem 2–3</a:t>
            </a:r>
            <a:endParaRPr lang="en-US" sz="1300" dirty="0"/>
          </a:p>
        </p:txBody>
      </p:sp>
    </p:spTree>
    <p:extLst>
      <p:ext uri="{BB962C8B-B14F-4D97-AF65-F5344CB8AC3E}">
        <p14:creationId xmlns:p14="http://schemas.microsoft.com/office/powerpoint/2010/main" val="166538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041" y="500062"/>
            <a:ext cx="10515600" cy="1325563"/>
          </a:xfrm>
        </p:spPr>
        <p:txBody>
          <a:bodyPr>
            <a:normAutofit/>
          </a:bodyPr>
          <a:lstStyle/>
          <a:p>
            <a:r>
              <a:rPr lang="en-IN" dirty="0"/>
              <a:t>Methodology / Architecture</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9</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65" name="Card 165"/>
          <p:cNvSpPr/>
          <p:nvPr/>
        </p:nvSpPr>
        <p:spPr>
          <a:xfrm>
            <a:off x="868680" y="1783080"/>
            <a:ext cx="2377440" cy="1325880"/>
          </a:xfrm>
          <a:prstGeom prst="roundRect">
            <a:avLst>
              <a:gd name="adj" fmla="val 6000"/>
            </a:avLst>
          </a:prstGeom>
          <a:solidFill>
            <a:srgbClr val="E3F1EF"/>
          </a:solidFill>
          <a:ln>
            <a:noFill/>
          </a:ln>
        </p:spPr>
        <p:txBody>
          <a:bodyPr wrap="square" lIns="137160" tIns="109728" rIns="109728" bIns="91440" anchor="t" rtlCol="0">
            <a:noAutofit/>
          </a:bodyPr>
          <a:lstStyle/>
          <a:p>
            <a:pPr algn="l" marL="0" indent="0">
              <a:spcBef>
                <a:spcPts val="0"/>
              </a:spcBef>
              <a:spcAft>
                <a:spcPts val="400"/>
              </a:spcAft>
              <a:buNone/>
            </a:pPr>
            <a:r>
              <a:rPr lang="en-US" sz="1500" b="1" i="0" dirty="0">
                <a:solidFill>
                  <a:srgbClr val="12355B"/>
                </a:solidFill>
                <a:latin typeface="+mn-lt"/>
              </a:rPr>
              <a:t>1  TSP instance</a:t>
            </a:r>
            <a:endParaRPr lang="en-US" sz="1500" dirty="0"/>
          </a:p>
          <a:p>
            <a:pPr algn="l" marL="0" indent="0">
              <a:spcBef>
                <a:spcPts val="0"/>
              </a:spcBef>
              <a:spcAft>
                <a:spcPts val="0"/>
              </a:spcAft>
              <a:buNone/>
            </a:pPr>
            <a:r>
              <a:rPr lang="en-US" sz="1250" b="0" i="0" dirty="0">
                <a:solidFill>
                  <a:srgbClr val="1F2A33"/>
                </a:solidFill>
                <a:latin typeface="+mn-lt"/>
              </a:rPr>
              <a:t>n cities; city 0 fixed; (n−1)</a:t>
            </a:r>
            <a:r>
              <a:rPr lang="en-US" sz="1250" b="0" i="0" baseline="30000" dirty="0">
                <a:solidFill>
                  <a:srgbClr val="1F2A33"/>
                </a:solidFill>
                <a:latin typeface="+mn-lt"/>
              </a:rPr>
              <a:t>2</a:t>
            </a:r>
            <a:r>
              <a:rPr lang="en-US" sz="1250" b="0" i="0" dirty="0">
                <a:solidFill>
                  <a:srgbClr val="1F2A33"/>
                </a:solidFill>
                <a:latin typeface="+mn-lt"/>
              </a:rPr>
              <a:t xml:space="preserve"> binary variables</a:t>
            </a:r>
            <a:endParaRPr lang="en-US" sz="1250" dirty="0"/>
          </a:p>
        </p:txBody>
      </p:sp>
      <p:cxnSp>
        <p:nvCxnSpPr>
          <p:cNvPr id="166" name="Arrow 166"/>
          <p:cNvCxnSpPr/>
          <p:nvPr/>
        </p:nvCxnSpPr>
        <p:spPr>
          <a:xfrm>
            <a:off x="3264408" y="2446020"/>
            <a:ext cx="301752" cy="0"/>
          </a:xfrm>
          <a:prstGeom prst="straightConnector1">
            <a:avLst/>
          </a:prstGeom>
          <a:ln w="22225">
            <a:solidFill>
              <a:srgbClr val="1B7F79"/>
            </a:solidFill>
            <a:tailEnd type="triangle" w="med" len="med"/>
          </a:ln>
        </p:spPr>
      </p:cxnSp>
      <p:sp>
        <p:nvSpPr>
          <p:cNvPr id="167" name="Card 167"/>
          <p:cNvSpPr/>
          <p:nvPr/>
        </p:nvSpPr>
        <p:spPr>
          <a:xfrm>
            <a:off x="3584448" y="1783080"/>
            <a:ext cx="2377440" cy="1325880"/>
          </a:xfrm>
          <a:prstGeom prst="roundRect">
            <a:avLst>
              <a:gd name="adj" fmla="val 6000"/>
            </a:avLst>
          </a:prstGeom>
          <a:solidFill>
            <a:srgbClr val="E3F1EF"/>
          </a:solidFill>
          <a:ln>
            <a:noFill/>
          </a:ln>
        </p:spPr>
        <p:txBody>
          <a:bodyPr wrap="square" lIns="137160" tIns="109728" rIns="109728" bIns="91440" anchor="t" rtlCol="0">
            <a:noAutofit/>
          </a:bodyPr>
          <a:lstStyle/>
          <a:p>
            <a:pPr algn="l" marL="0" indent="0">
              <a:spcBef>
                <a:spcPts val="0"/>
              </a:spcBef>
              <a:spcAft>
                <a:spcPts val="400"/>
              </a:spcAft>
              <a:buNone/>
            </a:pPr>
            <a:r>
              <a:rPr lang="en-US" sz="1500" b="1" i="0" dirty="0">
                <a:solidFill>
                  <a:srgbClr val="12355B"/>
                </a:solidFill>
                <a:latin typeface="+mn-lt"/>
              </a:rPr>
              <a:t>2  Penalised QUBO</a:t>
            </a:r>
            <a:endParaRPr lang="en-US" sz="1500" dirty="0"/>
          </a:p>
          <a:p>
            <a:pPr algn="l" marL="0" indent="0">
              <a:spcBef>
                <a:spcPts val="0"/>
              </a:spcBef>
              <a:spcAft>
                <a:spcPts val="0"/>
              </a:spcAft>
              <a:buNone/>
            </a:pPr>
            <a:r>
              <a:rPr lang="en-US" sz="1250" b="0" i="0" dirty="0">
                <a:solidFill>
                  <a:srgbClr val="1F2A33"/>
                </a:solidFill>
                <a:latin typeface="+mn-lt"/>
              </a:rPr>
              <a:t>E(x) = D(x) + Σ</a:t>
            </a:r>
            <a:r>
              <a:rPr lang="en-US" sz="1250" b="0" i="0" baseline="-25000" dirty="0">
                <a:solidFill>
                  <a:srgbClr val="1F2A33"/>
                </a:solidFill>
                <a:latin typeface="+mn-lt"/>
              </a:rPr>
              <a:t>c</a:t>
            </a:r>
            <a:r>
              <a:rPr lang="en-US" sz="1250" b="0" i="0" dirty="0">
                <a:solidFill>
                  <a:srgbClr val="1F2A33"/>
                </a:solidFill>
                <a:latin typeface="+mn-lt"/>
              </a:rPr>
              <a:t>[w</a:t>
            </a:r>
            <a:r>
              <a:rPr lang="en-US" sz="1250" b="0" i="0" baseline="-25000" dirty="0">
                <a:solidFill>
                  <a:srgbClr val="1F2A33"/>
                </a:solidFill>
                <a:latin typeface="+mn-lt"/>
              </a:rPr>
              <a:t>c</a:t>
            </a:r>
            <a:r>
              <a:rPr lang="en-US" sz="1250" b="0" i="0" dirty="0">
                <a:solidFill>
                  <a:srgbClr val="1F2A33"/>
                </a:solidFill>
                <a:latin typeface="+mn-lt"/>
              </a:rPr>
              <a:t xml:space="preserve"> g</a:t>
            </a:r>
            <a:r>
              <a:rPr lang="en-US" sz="1250" b="0" i="0" baseline="-25000" dirty="0">
                <a:solidFill>
                  <a:srgbClr val="1F2A33"/>
                </a:solidFill>
                <a:latin typeface="+mn-lt"/>
              </a:rPr>
              <a:t>c</a:t>
            </a:r>
            <a:r>
              <a:rPr lang="en-US" sz="1250" b="0" i="0" dirty="0">
                <a:solidFill>
                  <a:srgbClr val="1F2A33"/>
                </a:solidFill>
                <a:latin typeface="+mn-lt"/>
              </a:rPr>
              <a:t>(x)</a:t>
            </a:r>
            <a:r>
              <a:rPr lang="en-US" sz="1250" b="0" i="0" baseline="30000" dirty="0">
                <a:solidFill>
                  <a:srgbClr val="1F2A33"/>
                </a:solidFill>
                <a:latin typeface="+mn-lt"/>
              </a:rPr>
              <a:t>2</a:t>
            </a:r>
            <a:r>
              <a:rPr lang="en-US" sz="1250" b="0" i="0" dirty="0">
                <a:solidFill>
                  <a:srgbClr val="1F2A33"/>
                </a:solidFill>
                <a:latin typeface="+mn-lt"/>
              </a:rPr>
              <a:t xml:space="preserve"> + μ</a:t>
            </a:r>
            <a:r>
              <a:rPr lang="en-US" sz="1250" b="0" i="0" baseline="-25000" dirty="0">
                <a:solidFill>
                  <a:srgbClr val="1F2A33"/>
                </a:solidFill>
                <a:latin typeface="+mn-lt"/>
              </a:rPr>
              <a:t>c</a:t>
            </a:r>
            <a:r>
              <a:rPr lang="en-US" sz="1250" b="0" i="0" dirty="0">
                <a:solidFill>
                  <a:srgbClr val="1F2A33"/>
                </a:solidFill>
                <a:latin typeface="+mn-lt"/>
              </a:rPr>
              <a:t xml:space="preserve"> g</a:t>
            </a:r>
            <a:r>
              <a:rPr lang="en-US" sz="1250" b="0" i="0" baseline="-25000" dirty="0">
                <a:solidFill>
                  <a:srgbClr val="1F2A33"/>
                </a:solidFill>
                <a:latin typeface="+mn-lt"/>
              </a:rPr>
              <a:t>c</a:t>
            </a:r>
            <a:r>
              <a:rPr lang="en-US" sz="1250" b="0" i="0" dirty="0">
                <a:solidFill>
                  <a:srgbClr val="1F2A33"/>
                </a:solidFill>
                <a:latin typeface="+mn-lt"/>
              </a:rPr>
              <a:t>(x)]</a:t>
            </a:r>
            <a:endParaRPr lang="en-US" sz="1250" dirty="0"/>
          </a:p>
        </p:txBody>
      </p:sp>
      <p:cxnSp>
        <p:nvCxnSpPr>
          <p:cNvPr id="168" name="Arrow 168"/>
          <p:cNvCxnSpPr/>
          <p:nvPr/>
        </p:nvCxnSpPr>
        <p:spPr>
          <a:xfrm>
            <a:off x="5980176" y="2446020"/>
            <a:ext cx="301752" cy="0"/>
          </a:xfrm>
          <a:prstGeom prst="straightConnector1">
            <a:avLst/>
          </a:prstGeom>
          <a:ln w="22225">
            <a:solidFill>
              <a:srgbClr val="1B7F79"/>
            </a:solidFill>
            <a:tailEnd type="triangle" w="med" len="med"/>
          </a:ln>
        </p:spPr>
      </p:cxnSp>
      <p:sp>
        <p:nvSpPr>
          <p:cNvPr id="169" name="Card 169"/>
          <p:cNvSpPr/>
          <p:nvPr/>
        </p:nvSpPr>
        <p:spPr>
          <a:xfrm>
            <a:off x="6300216" y="1783080"/>
            <a:ext cx="2377440" cy="1325880"/>
          </a:xfrm>
          <a:prstGeom prst="roundRect">
            <a:avLst>
              <a:gd name="adj" fmla="val 6000"/>
            </a:avLst>
          </a:prstGeom>
          <a:solidFill>
            <a:srgbClr val="E3F1EF"/>
          </a:solidFill>
          <a:ln>
            <a:noFill/>
          </a:ln>
        </p:spPr>
        <p:txBody>
          <a:bodyPr wrap="square" lIns="137160" tIns="109728" rIns="109728" bIns="91440" anchor="t" rtlCol="0">
            <a:noAutofit/>
          </a:bodyPr>
          <a:lstStyle/>
          <a:p>
            <a:pPr algn="l" marL="0" indent="0">
              <a:spcBef>
                <a:spcPts val="0"/>
              </a:spcBef>
              <a:spcAft>
                <a:spcPts val="400"/>
              </a:spcAft>
              <a:buNone/>
            </a:pPr>
            <a:r>
              <a:rPr lang="en-US" sz="1500" b="1" i="0" dirty="0">
                <a:solidFill>
                  <a:srgbClr val="12355B"/>
                </a:solidFill>
                <a:latin typeface="+mn-lt"/>
              </a:rPr>
              <a:t>3  Solver round</a:t>
            </a:r>
            <a:endParaRPr lang="en-US" sz="1500" dirty="0"/>
          </a:p>
          <a:p>
            <a:pPr algn="l" marL="0" indent="0">
              <a:spcBef>
                <a:spcPts val="0"/>
              </a:spcBef>
              <a:spcAft>
                <a:spcPts val="0"/>
              </a:spcAft>
              <a:buNone/>
            </a:pPr>
            <a:r>
              <a:rPr lang="en-US" sz="1250" b="0" i="0" dirty="0">
                <a:solidFill>
                  <a:srgbClr val="1F2A33"/>
                </a:solidFill>
                <a:latin typeface="+mn-lt"/>
              </a:rPr>
              <a:t>simulated annealing or QAOA; 32 samples per round</a:t>
            </a:r>
            <a:endParaRPr lang="en-US" sz="1250" dirty="0"/>
          </a:p>
        </p:txBody>
      </p:sp>
      <p:cxnSp>
        <p:nvCxnSpPr>
          <p:cNvPr id="170" name="Arrow 170"/>
          <p:cNvCxnSpPr/>
          <p:nvPr/>
        </p:nvCxnSpPr>
        <p:spPr>
          <a:xfrm>
            <a:off x="8695944" y="2446020"/>
            <a:ext cx="301752" cy="0"/>
          </a:xfrm>
          <a:prstGeom prst="straightConnector1">
            <a:avLst/>
          </a:prstGeom>
          <a:ln w="22225">
            <a:solidFill>
              <a:srgbClr val="1B7F79"/>
            </a:solidFill>
            <a:tailEnd type="triangle" w="med" len="med"/>
          </a:ln>
        </p:spPr>
      </p:cxnSp>
      <p:sp>
        <p:nvSpPr>
          <p:cNvPr id="171" name="Card 171"/>
          <p:cNvSpPr/>
          <p:nvPr/>
        </p:nvSpPr>
        <p:spPr>
          <a:xfrm>
            <a:off x="9015984" y="1783080"/>
            <a:ext cx="2377440" cy="1325880"/>
          </a:xfrm>
          <a:prstGeom prst="roundRect">
            <a:avLst>
              <a:gd name="adj" fmla="val 6000"/>
            </a:avLst>
          </a:prstGeom>
          <a:solidFill>
            <a:srgbClr val="E3F1EF"/>
          </a:solidFill>
          <a:ln>
            <a:noFill/>
          </a:ln>
        </p:spPr>
        <p:txBody>
          <a:bodyPr wrap="square" lIns="137160" tIns="109728" rIns="109728" bIns="91440" anchor="t" rtlCol="0">
            <a:noAutofit/>
          </a:bodyPr>
          <a:lstStyle/>
          <a:p>
            <a:pPr algn="l" marL="0" indent="0">
              <a:spcBef>
                <a:spcPts val="0"/>
              </a:spcBef>
              <a:spcAft>
                <a:spcPts val="400"/>
              </a:spcAft>
              <a:buNone/>
            </a:pPr>
            <a:r>
              <a:rPr lang="en-US" sz="1500" b="1" i="0" dirty="0">
                <a:solidFill>
                  <a:srgbClr val="12355B"/>
                </a:solidFill>
                <a:latin typeface="+mn-lt"/>
              </a:rPr>
              <a:t>4  Feedback</a:t>
            </a:r>
            <a:endParaRPr lang="en-US" sz="1500" dirty="0"/>
          </a:p>
          <a:p>
            <a:pPr algn="l" marL="0" indent="0">
              <a:spcBef>
                <a:spcPts val="0"/>
              </a:spcBef>
              <a:spcAft>
                <a:spcPts val="0"/>
              </a:spcAft>
              <a:buNone/>
            </a:pPr>
            <a:r>
              <a:rPr lang="en-US" sz="1250" b="0" i="0" dirty="0">
                <a:solidFill>
                  <a:srgbClr val="1F2A33"/>
                </a:solidFill>
                <a:latin typeface="+mn-lt"/>
              </a:rPr>
              <a:t>per rule: how often and how badly broken; global: % valid, best tour</a:t>
            </a:r>
            <a:endParaRPr lang="en-US" sz="1250" dirty="0"/>
          </a:p>
        </p:txBody>
      </p:sp>
      <p:sp>
        <p:nvSpPr>
          <p:cNvPr id="172" name="Card 172"/>
          <p:cNvSpPr/>
          <p:nvPr/>
        </p:nvSpPr>
        <p:spPr>
          <a:xfrm>
            <a:off x="3584448" y="3657600"/>
            <a:ext cx="7754112" cy="1051560"/>
          </a:xfrm>
          <a:prstGeom prst="roundRect">
            <a:avLst>
              <a:gd name="adj" fmla="val 6000"/>
            </a:avLst>
          </a:prstGeom>
          <a:solidFill>
            <a:srgbClr val="FCEFD9"/>
          </a:solidFill>
          <a:ln w="12700">
            <a:solidFill>
              <a:srgbClr val="D98C1F"/>
            </a:solidFill>
          </a:ln>
        </p:spPr>
        <p:txBody>
          <a:bodyPr wrap="square" lIns="182880" tIns="73152" rIns="182880" bIns="73152" anchor="ctr" rtlCol="0">
            <a:noAutofit/>
          </a:bodyPr>
          <a:lstStyle/>
          <a:p>
            <a:pPr algn="l" marL="0" indent="0">
              <a:spcBef>
                <a:spcPts val="0"/>
              </a:spcBef>
              <a:spcAft>
                <a:spcPts val="0"/>
              </a:spcAft>
              <a:buNone/>
            </a:pPr>
            <a:r>
              <a:rPr lang="en-US" sz="1500" b="1" i="0" dirty="0">
                <a:solidFill>
                  <a:srgbClr val="12355B"/>
                </a:solidFill>
                <a:latin typeface="+mn-lt"/>
              </a:rPr>
              <a:t xml:space="preserve">5  GRAL policy (the AI): </a:t>
            </a:r>
            <a:r>
              <a:rPr lang="en-US" sz="1400" b="0" i="0" dirty="0">
                <a:solidFill>
                  <a:srgbClr val="1F2A33"/>
                </a:solidFill>
                <a:latin typeface="+mn-lt"/>
              </a:rPr>
              <a:t>a graph neural network on the constraint graph (one node per rule, ~93k parameters) reads the feedback and outputs a new w</a:t>
            </a:r>
            <a:r>
              <a:rPr lang="en-US" sz="1400" b="0" i="0" baseline="-25000" dirty="0">
                <a:solidFill>
                  <a:srgbClr val="1F2A33"/>
                </a:solidFill>
                <a:latin typeface="+mn-lt"/>
              </a:rPr>
              <a:t>c</a:t>
            </a:r>
            <a:r>
              <a:rPr lang="en-US" sz="1400" b="0" i="0" dirty="0">
                <a:solidFill>
                  <a:srgbClr val="1F2A33"/>
                </a:solidFill>
                <a:latin typeface="+mn-lt"/>
              </a:rPr>
              <a:t xml:space="preserve"> and μ</a:t>
            </a:r>
            <a:r>
              <a:rPr lang="en-US" sz="1400" b="0" i="0" baseline="-25000" dirty="0">
                <a:solidFill>
                  <a:srgbClr val="1F2A33"/>
                </a:solidFill>
                <a:latin typeface="+mn-lt"/>
              </a:rPr>
              <a:t>c</a:t>
            </a:r>
            <a:r>
              <a:rPr lang="en-US" sz="1400" b="0" i="0" dirty="0">
                <a:solidFill>
                  <a:srgbClr val="1F2A33"/>
                </a:solidFill>
                <a:latin typeface="+mn-lt"/>
              </a:rPr>
              <a:t xml:space="preserve"> for every rule.</a:t>
            </a:r>
            <a:endParaRPr lang="en-US" sz="1500" dirty="0"/>
          </a:p>
        </p:txBody>
      </p:sp>
      <p:cxnSp>
        <p:nvCxnSpPr>
          <p:cNvPr id="173" name="Arrow 173"/>
          <p:cNvCxnSpPr/>
          <p:nvPr/>
        </p:nvCxnSpPr>
        <p:spPr>
          <a:xfrm>
            <a:off x="10204704" y="3127248"/>
            <a:ext cx="0" cy="512064"/>
          </a:xfrm>
          <a:prstGeom prst="straightConnector1">
            <a:avLst/>
          </a:prstGeom>
          <a:ln w="28575">
            <a:solidFill>
              <a:srgbClr val="D98C1F"/>
            </a:solidFill>
            <a:tailEnd type="triangle" w="med" len="med"/>
          </a:ln>
        </p:spPr>
      </p:cxnSp>
      <p:cxnSp>
        <p:nvCxnSpPr>
          <p:cNvPr id="174" name="Arrow 174"/>
          <p:cNvCxnSpPr/>
          <p:nvPr/>
        </p:nvCxnSpPr>
        <p:spPr>
          <a:xfrm flipV="1">
            <a:off x="4773168" y="3127248"/>
            <a:ext cx="0" cy="512064"/>
          </a:xfrm>
          <a:prstGeom prst="straightConnector1">
            <a:avLst/>
          </a:prstGeom>
          <a:ln w="28575">
            <a:solidFill>
              <a:srgbClr val="D98C1F"/>
            </a:solidFill>
            <a:tailEnd type="triangle" w="med" len="med"/>
          </a:ln>
        </p:spPr>
      </p:cxnSp>
      <p:sp>
        <p:nvSpPr>
          <p:cNvPr id="175" name="TextBox 175"/>
          <p:cNvSpPr txBox="1"/>
          <p:nvPr/>
        </p:nvSpPr>
        <p:spPr>
          <a:xfrm>
            <a:off x="4882896" y="3200400"/>
            <a:ext cx="2377440" cy="365760"/>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1" i="1" dirty="0">
                <a:solidFill>
                  <a:srgbClr val="D98C1F"/>
                </a:solidFill>
                <a:latin typeface="+mn-lt"/>
              </a:rPr>
              <a:t>new penalties, next round</a:t>
            </a:r>
            <a:endParaRPr lang="en-US" sz="1200" dirty="0"/>
          </a:p>
        </p:txBody>
      </p:sp>
      <p:sp>
        <p:nvSpPr>
          <p:cNvPr id="176" name="TextBox 176"/>
          <p:cNvSpPr txBox="1"/>
          <p:nvPr/>
        </p:nvSpPr>
        <p:spPr>
          <a:xfrm>
            <a:off x="7781544" y="3200400"/>
            <a:ext cx="2331720" cy="365760"/>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1" i="1" dirty="0">
                <a:solidFill>
                  <a:srgbClr val="D98C1F"/>
                </a:solidFill>
                <a:latin typeface="+mn-lt"/>
              </a:rPr>
              <a:t>observations</a:t>
            </a:r>
            <a:endParaRPr lang="en-US" sz="1200" dirty="0"/>
          </a:p>
        </p:txBody>
      </p:sp>
      <p:sp>
        <p:nvSpPr>
          <p:cNvPr id="177" name="Card 177"/>
          <p:cNvSpPr/>
          <p:nvPr/>
        </p:nvSpPr>
        <p:spPr>
          <a:xfrm>
            <a:off x="868680" y="3657600"/>
            <a:ext cx="2377440" cy="2423160"/>
          </a:xfrm>
          <a:prstGeom prst="roundRect">
            <a:avLst>
              <a:gd name="adj" fmla="val 6000"/>
            </a:avLst>
          </a:prstGeom>
          <a:solidFill>
            <a:srgbClr val="F1F3F4"/>
          </a:solidFill>
          <a:ln>
            <a:noFill/>
          </a:ln>
        </p:spPr>
        <p:txBody>
          <a:bodyPr wrap="square" lIns="137160" tIns="109728" rIns="109728" bIns="91440" anchor="t" rtlCol="0">
            <a:noAutofit/>
          </a:bodyPr>
          <a:lstStyle/>
          <a:p>
            <a:pPr algn="l" marL="0" indent="0">
              <a:spcBef>
                <a:spcPts val="0"/>
              </a:spcBef>
              <a:spcAft>
                <a:spcPts val="400"/>
              </a:spcAft>
              <a:buNone/>
            </a:pPr>
            <a:r>
              <a:rPr lang="en-US" sz="1500" b="1" i="0" dirty="0">
                <a:solidFill>
                  <a:srgbClr val="12355B"/>
                </a:solidFill>
                <a:latin typeface="+mn-lt"/>
              </a:rPr>
              <a:t>Training</a:t>
            </a:r>
            <a:endParaRPr lang="en-US" sz="1500" dirty="0"/>
          </a:p>
          <a:p>
            <a:pPr algn="l" marL="0" indent="0">
              <a:spcBef>
                <a:spcPts val="0"/>
              </a:spcBef>
              <a:spcAft>
                <a:spcPts val="0"/>
              </a:spcAft>
              <a:buNone/>
            </a:pPr>
            <a:r>
              <a:rPr lang="en-US" sz="1300" b="0" i="0" dirty="0">
                <a:solidFill>
                  <a:srgbClr val="1F2A33"/>
                </a:solidFill>
                <a:latin typeface="+mn-lt"/>
              </a:rPr>
              <a:t>PPO reinforcement learning on random instances of up to 14 cities; best model chosen on a separate validation set.</a:t>
            </a:r>
            <a:endParaRPr lang="en-US" sz="1300" dirty="0"/>
          </a:p>
        </p:txBody>
      </p:sp>
      <p:sp>
        <p:nvSpPr>
          <p:cNvPr id="178" name="Card 178"/>
          <p:cNvSpPr/>
          <p:nvPr/>
        </p:nvSpPr>
        <p:spPr>
          <a:xfrm>
            <a:off x="3584448" y="4937760"/>
            <a:ext cx="2432304" cy="1143000"/>
          </a:xfrm>
          <a:prstGeom prst="roundRect">
            <a:avLst>
              <a:gd name="adj" fmla="val 6000"/>
            </a:avLst>
          </a:prstGeom>
          <a:solidFill>
            <a:srgbClr val="F1F3F4"/>
          </a:solidFill>
          <a:ln>
            <a:noFill/>
          </a:ln>
        </p:spPr>
        <p:txBody>
          <a:bodyPr wrap="square" lIns="137160" tIns="91440" rIns="109728" bIns="73152" anchor="t" rtlCol="0">
            <a:noAutofit/>
          </a:bodyPr>
          <a:lstStyle/>
          <a:p>
            <a:pPr algn="l" marL="0" indent="0">
              <a:spcBef>
                <a:spcPts val="0"/>
              </a:spcBef>
              <a:spcAft>
                <a:spcPts val="200"/>
              </a:spcAft>
              <a:buNone/>
            </a:pPr>
            <a:r>
              <a:rPr lang="en-US" sz="1400" b="1" i="0" dirty="0">
                <a:solidFill>
                  <a:srgbClr val="1B7F79"/>
                </a:solidFill>
                <a:latin typeface="+mn-lt"/>
              </a:rPr>
              <a:t>Residual action</a:t>
            </a:r>
            <a:endParaRPr lang="en-US" sz="1400" dirty="0"/>
          </a:p>
          <a:p>
            <a:pPr algn="l" marL="0" indent="0">
              <a:spcBef>
                <a:spcPts val="0"/>
              </a:spcBef>
              <a:spcAft>
                <a:spcPts val="0"/>
              </a:spcAft>
              <a:buNone/>
            </a:pPr>
            <a:r>
              <a:rPr lang="en-US" sz="1250" b="0" i="0" dirty="0">
                <a:solidFill>
                  <a:srgbClr val="1F2A33"/>
                </a:solidFill>
                <a:latin typeface="+mn-lt"/>
              </a:rPr>
              <a:t>GRAL corrects a classical rule; action 0 = the rule itself.</a:t>
            </a:r>
            <a:endParaRPr lang="en-US" sz="1250" dirty="0"/>
          </a:p>
        </p:txBody>
      </p:sp>
      <p:sp>
        <p:nvSpPr>
          <p:cNvPr id="179" name="Card 179"/>
          <p:cNvSpPr/>
          <p:nvPr/>
        </p:nvSpPr>
        <p:spPr>
          <a:xfrm>
            <a:off x="6245352" y="4937760"/>
            <a:ext cx="2432304" cy="1143000"/>
          </a:xfrm>
          <a:prstGeom prst="roundRect">
            <a:avLst>
              <a:gd name="adj" fmla="val 6000"/>
            </a:avLst>
          </a:prstGeom>
          <a:solidFill>
            <a:srgbClr val="F1F3F4"/>
          </a:solidFill>
          <a:ln>
            <a:noFill/>
          </a:ln>
        </p:spPr>
        <p:txBody>
          <a:bodyPr wrap="square" lIns="137160" tIns="91440" rIns="109728" bIns="73152" anchor="t" rtlCol="0">
            <a:noAutofit/>
          </a:bodyPr>
          <a:lstStyle/>
          <a:p>
            <a:pPr algn="l" marL="0" indent="0">
              <a:spcBef>
                <a:spcPts val="0"/>
              </a:spcBef>
              <a:spcAft>
                <a:spcPts val="200"/>
              </a:spcAft>
              <a:buNone/>
            </a:pPr>
            <a:r>
              <a:rPr lang="en-US" sz="1400" b="1" i="0" dirty="0">
                <a:solidFill>
                  <a:srgbClr val="1B7F79"/>
                </a:solidFill>
                <a:latin typeface="+mn-lt"/>
              </a:rPr>
              <a:t>Paired reward</a:t>
            </a:r>
            <a:endParaRPr lang="en-US" sz="1400" dirty="0"/>
          </a:p>
          <a:p>
            <a:pPr algn="l" marL="0" indent="0">
              <a:spcBef>
                <a:spcPts val="0"/>
              </a:spcBef>
              <a:spcAft>
                <a:spcPts val="0"/>
              </a:spcAft>
              <a:buNone/>
            </a:pPr>
            <a:r>
              <a:rPr lang="en-US" sz="1250" b="0" i="0" dirty="0">
                <a:solidFill>
                  <a:srgbClr val="1F2A33"/>
                </a:solidFill>
                <a:latin typeface="+mn-lt"/>
              </a:rPr>
              <a:t>Reward = improvement over the rule on the same instance and random seeds.</a:t>
            </a:r>
            <a:endParaRPr lang="en-US" sz="1250" dirty="0"/>
          </a:p>
        </p:txBody>
      </p:sp>
      <p:sp>
        <p:nvSpPr>
          <p:cNvPr id="180" name="Card 180"/>
          <p:cNvSpPr/>
          <p:nvPr/>
        </p:nvSpPr>
        <p:spPr>
          <a:xfrm>
            <a:off x="8906256" y="4937760"/>
            <a:ext cx="2432304" cy="1143000"/>
          </a:xfrm>
          <a:prstGeom prst="roundRect">
            <a:avLst>
              <a:gd name="adj" fmla="val 6000"/>
            </a:avLst>
          </a:prstGeom>
          <a:solidFill>
            <a:srgbClr val="F1F3F4"/>
          </a:solidFill>
          <a:ln>
            <a:noFill/>
          </a:ln>
        </p:spPr>
        <p:txBody>
          <a:bodyPr wrap="square" lIns="137160" tIns="91440" rIns="109728" bIns="73152" anchor="t" rtlCol="0">
            <a:noAutofit/>
          </a:bodyPr>
          <a:lstStyle/>
          <a:p>
            <a:pPr algn="l" marL="0" indent="0">
              <a:spcBef>
                <a:spcPts val="0"/>
              </a:spcBef>
              <a:spcAft>
                <a:spcPts val="200"/>
              </a:spcAft>
              <a:buNone/>
            </a:pPr>
            <a:r>
              <a:rPr lang="en-US" sz="1400" b="1" i="0" dirty="0">
                <a:solidFill>
                  <a:srgbClr val="1B7F79"/>
                </a:solidFill>
                <a:latin typeface="+mn-lt"/>
              </a:rPr>
              <a:t>Shared weights</a:t>
            </a:r>
            <a:endParaRPr lang="en-US" sz="1400" dirty="0"/>
          </a:p>
          <a:p>
            <a:pPr algn="l" marL="0" indent="0">
              <a:spcBef>
                <a:spcPts val="0"/>
              </a:spcBef>
              <a:spcAft>
                <a:spcPts val="0"/>
              </a:spcAft>
              <a:buNone/>
            </a:pPr>
            <a:r>
              <a:rPr lang="en-US" sz="1250" b="0" i="0" dirty="0">
                <a:solidFill>
                  <a:srgbClr val="1F2A33"/>
                </a:solidFill>
                <a:latin typeface="+mn-lt"/>
              </a:rPr>
              <a:t>The same network runs for any number of cities, so it transfers to bigger instances.</a:t>
            </a:r>
            <a:endParaRPr lang="en-US" sz="1250" dirty="0"/>
          </a:p>
        </p:txBody>
      </p:sp>
    </p:spTree>
    <p:extLst>
      <p:ext uri="{BB962C8B-B14F-4D97-AF65-F5344CB8AC3E}">
        <p14:creationId xmlns:p14="http://schemas.microsoft.com/office/powerpoint/2010/main" val="146270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3-Semester Timeline</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10</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213" name="SemHeader 213"/>
          <p:cNvSpPr/>
          <p:nvPr/>
        </p:nvSpPr>
        <p:spPr>
          <a:xfrm>
            <a:off x="4370832" y="1783080"/>
            <a:ext cx="2276856" cy="384048"/>
          </a:xfrm>
          <a:prstGeom prst="rect">
            <a:avLst/>
          </a:prstGeom>
          <a:solidFill>
            <a:srgbClr val="12355B"/>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FFFFFF"/>
                </a:solidFill>
                <a:latin typeface="+mn-lt"/>
              </a:rPr>
              <a:t>Semester 1 (Phase 1)</a:t>
            </a:r>
            <a:endParaRPr lang="en-US" sz="1300" dirty="0"/>
          </a:p>
        </p:txBody>
      </p:sp>
      <p:sp>
        <p:nvSpPr>
          <p:cNvPr id="214" name="SemHeader 214"/>
          <p:cNvSpPr/>
          <p:nvPr/>
        </p:nvSpPr>
        <p:spPr>
          <a:xfrm>
            <a:off x="6702552" y="1783080"/>
            <a:ext cx="2276856" cy="384048"/>
          </a:xfrm>
          <a:prstGeom prst="rect">
            <a:avLst/>
          </a:prstGeom>
          <a:solidFill>
            <a:srgbClr val="12355B"/>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FFFFFF"/>
                </a:solidFill>
                <a:latin typeface="+mn-lt"/>
              </a:rPr>
              <a:t>Semester 2 (Phase 2)</a:t>
            </a:r>
            <a:endParaRPr lang="en-US" sz="1300" dirty="0"/>
          </a:p>
        </p:txBody>
      </p:sp>
      <p:sp>
        <p:nvSpPr>
          <p:cNvPr id="215" name="SemHeader 215"/>
          <p:cNvSpPr/>
          <p:nvPr/>
        </p:nvSpPr>
        <p:spPr>
          <a:xfrm>
            <a:off x="9034272" y="1783080"/>
            <a:ext cx="2276856" cy="384048"/>
          </a:xfrm>
          <a:prstGeom prst="rect">
            <a:avLst/>
          </a:prstGeom>
          <a:solidFill>
            <a:srgbClr val="12355B"/>
          </a:solidFill>
          <a:ln>
            <a:noFill/>
          </a:ln>
        </p:spPr>
        <p:txBody>
          <a:bodyPr wrap="square" lIns="0" tIns="0" rIns="0" bIns="0" anchor="ctr" rtlCol="0">
            <a:noAutofit/>
          </a:bodyPr>
          <a:lstStyle/>
          <a:p>
            <a:pPr algn="ctr" marL="0" indent="0">
              <a:spcBef>
                <a:spcPts val="0"/>
              </a:spcBef>
              <a:spcAft>
                <a:spcPts val="0"/>
              </a:spcAft>
              <a:buNone/>
            </a:pPr>
            <a:r>
              <a:rPr lang="en-US" sz="1300" b="1" i="0" dirty="0">
                <a:solidFill>
                  <a:srgbClr val="FFFFFF"/>
                </a:solidFill>
                <a:latin typeface="+mn-lt"/>
              </a:rPr>
              <a:t>Semester 3 (Phase 3)</a:t>
            </a:r>
            <a:endParaRPr lang="en-US" sz="1300" dirty="0"/>
          </a:p>
        </p:txBody>
      </p:sp>
      <p:sp>
        <p:nvSpPr>
          <p:cNvPr id="216" name="Grid 216"/>
          <p:cNvSpPr/>
          <p:nvPr/>
        </p:nvSpPr>
        <p:spPr>
          <a:xfrm>
            <a:off x="434340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17" name="Grid 217"/>
          <p:cNvSpPr/>
          <p:nvPr/>
        </p:nvSpPr>
        <p:spPr>
          <a:xfrm>
            <a:off x="550926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18" name="Grid 218"/>
          <p:cNvSpPr/>
          <p:nvPr/>
        </p:nvSpPr>
        <p:spPr>
          <a:xfrm>
            <a:off x="667512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19" name="Grid 219"/>
          <p:cNvSpPr/>
          <p:nvPr/>
        </p:nvSpPr>
        <p:spPr>
          <a:xfrm>
            <a:off x="784098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20" name="Grid 220"/>
          <p:cNvSpPr/>
          <p:nvPr/>
        </p:nvSpPr>
        <p:spPr>
          <a:xfrm>
            <a:off x="900684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21" name="Grid 221"/>
          <p:cNvSpPr/>
          <p:nvPr/>
        </p:nvSpPr>
        <p:spPr>
          <a:xfrm>
            <a:off x="1017270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22" name="Grid 222"/>
          <p:cNvSpPr/>
          <p:nvPr/>
        </p:nvSpPr>
        <p:spPr>
          <a:xfrm>
            <a:off x="11338560" y="2286000"/>
            <a:ext cx="914" cy="3474720"/>
          </a:xfrm>
          <a:prstGeom prst="rect">
            <a:avLst/>
          </a:prstGeom>
          <a:noFill/>
          <a:ln w="9525">
            <a:solidFill>
              <a:srgbClr val="D5DADD"/>
            </a:solidFill>
          </a:ln>
        </p:spPr>
        <p:txBody>
          <a:bodyPr wrap="square" lIns="91440" tIns="54864" rIns="91440" bIns="54864" anchor="t" rtlCol="0">
            <a:noAutofit/>
          </a:bodyPr>
          <a:lstStyle/>
          <a:p>
            <a:endParaRPr lang="en-US" sz="1200" dirty="0"/>
          </a:p>
        </p:txBody>
      </p:sp>
      <p:sp>
        <p:nvSpPr>
          <p:cNvPr id="223" name="Band 223"/>
          <p:cNvSpPr/>
          <p:nvPr/>
        </p:nvSpPr>
        <p:spPr>
          <a:xfrm>
            <a:off x="868680" y="2286000"/>
            <a:ext cx="10469880" cy="347472"/>
          </a:xfrm>
          <a:prstGeom prst="rect">
            <a:avLst/>
          </a:prstGeom>
          <a:solidFill>
            <a:srgbClr val="F6F8F8"/>
          </a:solidFill>
          <a:ln>
            <a:noFill/>
          </a:ln>
        </p:spPr>
        <p:txBody>
          <a:bodyPr wrap="square" lIns="91440" tIns="54864" rIns="91440" bIns="54864" anchor="t" rtlCol="0">
            <a:noAutofit/>
          </a:bodyPr>
          <a:lstStyle/>
          <a:p>
            <a:endParaRPr lang="en-US" sz="1200" dirty="0"/>
          </a:p>
        </p:txBody>
      </p:sp>
      <p:sp>
        <p:nvSpPr>
          <p:cNvPr id="224" name="TextBox 224"/>
          <p:cNvSpPr txBox="1"/>
          <p:nvPr/>
        </p:nvSpPr>
        <p:spPr>
          <a:xfrm>
            <a:off x="914400" y="2286000"/>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Literature survey and gap analysis</a:t>
            </a:r>
            <a:endParaRPr lang="en-US" sz="1300" dirty="0"/>
          </a:p>
        </p:txBody>
      </p:sp>
      <p:sp>
        <p:nvSpPr>
          <p:cNvPr id="225" name="GanttBar 225"/>
          <p:cNvSpPr/>
          <p:nvPr/>
        </p:nvSpPr>
        <p:spPr>
          <a:xfrm>
            <a:off x="4398264" y="2350008"/>
            <a:ext cx="2221992" cy="219456"/>
          </a:xfrm>
          <a:prstGeom prst="roundRect">
            <a:avLst>
              <a:gd name="adj" fmla="val 30000"/>
            </a:avLst>
          </a:prstGeom>
          <a:solidFill>
            <a:srgbClr val="1B7F79"/>
          </a:solidFill>
          <a:ln>
            <a:noFill/>
          </a:ln>
        </p:spPr>
        <p:txBody>
          <a:bodyPr wrap="square" lIns="91440" tIns="54864" rIns="91440" bIns="54864" anchor="t" rtlCol="0">
            <a:noAutofit/>
          </a:bodyPr>
          <a:lstStyle/>
          <a:p>
            <a:endParaRPr lang="en-US" sz="1200" dirty="0"/>
          </a:p>
        </p:txBody>
      </p:sp>
      <p:sp>
        <p:nvSpPr>
          <p:cNvPr id="226" name="TextBox 226"/>
          <p:cNvSpPr txBox="1"/>
          <p:nvPr/>
        </p:nvSpPr>
        <p:spPr>
          <a:xfrm>
            <a:off x="914400" y="2633472"/>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QUBO encoding, solvers, baselines</a:t>
            </a:r>
            <a:endParaRPr lang="en-US" sz="1300" dirty="0"/>
          </a:p>
        </p:txBody>
      </p:sp>
      <p:sp>
        <p:nvSpPr>
          <p:cNvPr id="227" name="GanttBar 227"/>
          <p:cNvSpPr/>
          <p:nvPr/>
        </p:nvSpPr>
        <p:spPr>
          <a:xfrm>
            <a:off x="4398264" y="2697480"/>
            <a:ext cx="1056132" cy="219456"/>
          </a:xfrm>
          <a:prstGeom prst="roundRect">
            <a:avLst>
              <a:gd name="adj" fmla="val 30000"/>
            </a:avLst>
          </a:prstGeom>
          <a:solidFill>
            <a:srgbClr val="1B7F79"/>
          </a:solidFill>
          <a:ln>
            <a:noFill/>
          </a:ln>
        </p:spPr>
        <p:txBody>
          <a:bodyPr wrap="square" lIns="91440" tIns="54864" rIns="91440" bIns="54864" anchor="t" rtlCol="0">
            <a:noAutofit/>
          </a:bodyPr>
          <a:lstStyle/>
          <a:p>
            <a:endParaRPr lang="en-US" sz="1200" dirty="0"/>
          </a:p>
        </p:txBody>
      </p:sp>
      <p:sp>
        <p:nvSpPr>
          <p:cNvPr id="228" name="Band 228"/>
          <p:cNvSpPr/>
          <p:nvPr/>
        </p:nvSpPr>
        <p:spPr>
          <a:xfrm>
            <a:off x="868680" y="2980944"/>
            <a:ext cx="10469880" cy="347472"/>
          </a:xfrm>
          <a:prstGeom prst="rect">
            <a:avLst/>
          </a:prstGeom>
          <a:solidFill>
            <a:srgbClr val="F6F8F8"/>
          </a:solidFill>
          <a:ln>
            <a:noFill/>
          </a:ln>
        </p:spPr>
        <p:txBody>
          <a:bodyPr wrap="square" lIns="91440" tIns="54864" rIns="91440" bIns="54864" anchor="t" rtlCol="0">
            <a:noAutofit/>
          </a:bodyPr>
          <a:lstStyle/>
          <a:p>
            <a:endParaRPr lang="en-US" sz="1200" dirty="0"/>
          </a:p>
        </p:txBody>
      </p:sp>
      <p:sp>
        <p:nvSpPr>
          <p:cNvPr id="229" name="TextBox 229"/>
          <p:cNvSpPr txBox="1"/>
          <p:nvPr/>
        </p:nvSpPr>
        <p:spPr>
          <a:xfrm>
            <a:off x="914400" y="2980944"/>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GRAL design and PPO training</a:t>
            </a:r>
            <a:endParaRPr lang="en-US" sz="1300" dirty="0"/>
          </a:p>
        </p:txBody>
      </p:sp>
      <p:sp>
        <p:nvSpPr>
          <p:cNvPr id="230" name="GanttBar 230"/>
          <p:cNvSpPr/>
          <p:nvPr/>
        </p:nvSpPr>
        <p:spPr>
          <a:xfrm>
            <a:off x="5564124" y="3044952"/>
            <a:ext cx="1056132" cy="219456"/>
          </a:xfrm>
          <a:prstGeom prst="roundRect">
            <a:avLst>
              <a:gd name="adj" fmla="val 30000"/>
            </a:avLst>
          </a:prstGeom>
          <a:solidFill>
            <a:srgbClr val="1B7F79"/>
          </a:solidFill>
          <a:ln>
            <a:noFill/>
          </a:ln>
        </p:spPr>
        <p:txBody>
          <a:bodyPr wrap="square" lIns="91440" tIns="54864" rIns="91440" bIns="54864" anchor="t" rtlCol="0">
            <a:noAutofit/>
          </a:bodyPr>
          <a:lstStyle/>
          <a:p>
            <a:endParaRPr lang="en-US" sz="1200" dirty="0"/>
          </a:p>
        </p:txBody>
      </p:sp>
      <p:sp>
        <p:nvSpPr>
          <p:cNvPr id="231" name="TextBox 231"/>
          <p:cNvSpPr txBox="1"/>
          <p:nvPr/>
        </p:nvSpPr>
        <p:spPr>
          <a:xfrm>
            <a:off x="914400" y="3328416"/>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Evaluation: random, TSPLIB, QAOA</a:t>
            </a:r>
            <a:endParaRPr lang="en-US" sz="1300" dirty="0"/>
          </a:p>
        </p:txBody>
      </p:sp>
      <p:sp>
        <p:nvSpPr>
          <p:cNvPr id="232" name="GanttBar 232"/>
          <p:cNvSpPr/>
          <p:nvPr/>
        </p:nvSpPr>
        <p:spPr>
          <a:xfrm>
            <a:off x="5564124" y="3392424"/>
            <a:ext cx="1056132" cy="219456"/>
          </a:xfrm>
          <a:prstGeom prst="roundRect">
            <a:avLst>
              <a:gd name="adj" fmla="val 30000"/>
            </a:avLst>
          </a:prstGeom>
          <a:solidFill>
            <a:srgbClr val="1B7F79"/>
          </a:solidFill>
          <a:ln>
            <a:noFill/>
          </a:ln>
        </p:spPr>
        <p:txBody>
          <a:bodyPr wrap="square" lIns="91440" tIns="54864" rIns="91440" bIns="54864" anchor="t" rtlCol="0">
            <a:noAutofit/>
          </a:bodyPr>
          <a:lstStyle/>
          <a:p>
            <a:endParaRPr lang="en-US" sz="1200" dirty="0"/>
          </a:p>
        </p:txBody>
      </p:sp>
      <p:sp>
        <p:nvSpPr>
          <p:cNvPr id="233" name="Band 233"/>
          <p:cNvSpPr/>
          <p:nvPr/>
        </p:nvSpPr>
        <p:spPr>
          <a:xfrm>
            <a:off x="868680" y="3675888"/>
            <a:ext cx="10469880" cy="347472"/>
          </a:xfrm>
          <a:prstGeom prst="rect">
            <a:avLst/>
          </a:prstGeom>
          <a:solidFill>
            <a:srgbClr val="F6F8F8"/>
          </a:solidFill>
          <a:ln>
            <a:noFill/>
          </a:ln>
        </p:spPr>
        <p:txBody>
          <a:bodyPr wrap="square" lIns="91440" tIns="54864" rIns="91440" bIns="54864" anchor="t" rtlCol="0">
            <a:noAutofit/>
          </a:bodyPr>
          <a:lstStyle/>
          <a:p>
            <a:endParaRPr lang="en-US" sz="1200" dirty="0"/>
          </a:p>
        </p:txBody>
      </p:sp>
      <p:sp>
        <p:nvSpPr>
          <p:cNvPr id="234" name="TextBox 234"/>
          <p:cNvSpPr txBox="1"/>
          <p:nvPr/>
        </p:nvSpPr>
        <p:spPr>
          <a:xfrm>
            <a:off x="914400" y="3675888"/>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Stronger baselines, multi-seed training</a:t>
            </a:r>
            <a:endParaRPr lang="en-US" sz="1300" dirty="0"/>
          </a:p>
        </p:txBody>
      </p:sp>
      <p:sp>
        <p:nvSpPr>
          <p:cNvPr id="235" name="GanttBar 235"/>
          <p:cNvSpPr/>
          <p:nvPr/>
        </p:nvSpPr>
        <p:spPr>
          <a:xfrm>
            <a:off x="6729984" y="3739896"/>
            <a:ext cx="105613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36" name="TextBox 236"/>
          <p:cNvSpPr txBox="1"/>
          <p:nvPr/>
        </p:nvSpPr>
        <p:spPr>
          <a:xfrm>
            <a:off x="914400" y="4023360"/>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Second problem type (e.g. vehicle routing)</a:t>
            </a:r>
            <a:endParaRPr lang="en-US" sz="1300" dirty="0"/>
          </a:p>
        </p:txBody>
      </p:sp>
      <p:sp>
        <p:nvSpPr>
          <p:cNvPr id="237" name="GanttBar 237"/>
          <p:cNvSpPr/>
          <p:nvPr/>
        </p:nvSpPr>
        <p:spPr>
          <a:xfrm>
            <a:off x="6729984" y="4087368"/>
            <a:ext cx="222199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38" name="Band 238"/>
          <p:cNvSpPr/>
          <p:nvPr/>
        </p:nvSpPr>
        <p:spPr>
          <a:xfrm>
            <a:off x="868680" y="4370832"/>
            <a:ext cx="10469880" cy="347472"/>
          </a:xfrm>
          <a:prstGeom prst="rect">
            <a:avLst/>
          </a:prstGeom>
          <a:solidFill>
            <a:srgbClr val="F6F8F8"/>
          </a:solidFill>
          <a:ln>
            <a:noFill/>
          </a:ln>
        </p:spPr>
        <p:txBody>
          <a:bodyPr wrap="square" lIns="91440" tIns="54864" rIns="91440" bIns="54864" anchor="t" rtlCol="0">
            <a:noAutofit/>
          </a:bodyPr>
          <a:lstStyle/>
          <a:p>
            <a:endParaRPr lang="en-US" sz="1200" dirty="0"/>
          </a:p>
        </p:txBody>
      </p:sp>
      <p:sp>
        <p:nvSpPr>
          <p:cNvPr id="239" name="TextBox 239"/>
          <p:cNvSpPr txBox="1"/>
          <p:nvPr/>
        </p:nvSpPr>
        <p:spPr>
          <a:xfrm>
            <a:off x="914400" y="4370832"/>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Noisy QAOA simulation, deeper circuits</a:t>
            </a:r>
            <a:endParaRPr lang="en-US" sz="1300" dirty="0"/>
          </a:p>
        </p:txBody>
      </p:sp>
      <p:sp>
        <p:nvSpPr>
          <p:cNvPr id="240" name="GanttBar 240"/>
          <p:cNvSpPr/>
          <p:nvPr/>
        </p:nvSpPr>
        <p:spPr>
          <a:xfrm>
            <a:off x="7895844" y="4434840"/>
            <a:ext cx="105613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41" name="TextBox 241"/>
          <p:cNvSpPr txBox="1"/>
          <p:nvPr/>
        </p:nvSpPr>
        <p:spPr>
          <a:xfrm>
            <a:off x="914400" y="4718304"/>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Conference paper: write and submit</a:t>
            </a:r>
            <a:endParaRPr lang="en-US" sz="1300" dirty="0"/>
          </a:p>
        </p:txBody>
      </p:sp>
      <p:sp>
        <p:nvSpPr>
          <p:cNvPr id="242" name="GanttBar 242"/>
          <p:cNvSpPr/>
          <p:nvPr/>
        </p:nvSpPr>
        <p:spPr>
          <a:xfrm>
            <a:off x="7895844" y="4782312"/>
            <a:ext cx="222199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43" name="Band 243"/>
          <p:cNvSpPr/>
          <p:nvPr/>
        </p:nvSpPr>
        <p:spPr>
          <a:xfrm>
            <a:off x="868680" y="5065776"/>
            <a:ext cx="10469880" cy="347472"/>
          </a:xfrm>
          <a:prstGeom prst="rect">
            <a:avLst/>
          </a:prstGeom>
          <a:solidFill>
            <a:srgbClr val="F6F8F8"/>
          </a:solidFill>
          <a:ln>
            <a:noFill/>
          </a:ln>
        </p:spPr>
        <p:txBody>
          <a:bodyPr wrap="square" lIns="91440" tIns="54864" rIns="91440" bIns="54864" anchor="t" rtlCol="0">
            <a:noAutofit/>
          </a:bodyPr>
          <a:lstStyle/>
          <a:p>
            <a:endParaRPr lang="en-US" sz="1200" dirty="0"/>
          </a:p>
        </p:txBody>
      </p:sp>
      <p:sp>
        <p:nvSpPr>
          <p:cNvPr id="244" name="TextBox 244"/>
          <p:cNvSpPr txBox="1"/>
          <p:nvPr/>
        </p:nvSpPr>
        <p:spPr>
          <a:xfrm>
            <a:off x="914400" y="5065776"/>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Runs on real quantum hardware (IBM)</a:t>
            </a:r>
            <a:endParaRPr lang="en-US" sz="1300" dirty="0"/>
          </a:p>
        </p:txBody>
      </p:sp>
      <p:sp>
        <p:nvSpPr>
          <p:cNvPr id="245" name="GanttBar 245"/>
          <p:cNvSpPr/>
          <p:nvPr/>
        </p:nvSpPr>
        <p:spPr>
          <a:xfrm>
            <a:off x="9061704" y="5129784"/>
            <a:ext cx="105613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46" name="TextBox 246"/>
          <p:cNvSpPr txBox="1"/>
          <p:nvPr/>
        </p:nvSpPr>
        <p:spPr>
          <a:xfrm>
            <a:off x="914400" y="5413248"/>
            <a:ext cx="3337560" cy="347472"/>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300" b="0" i="0" dirty="0">
                <a:solidFill>
                  <a:srgbClr val="1F2A33"/>
                </a:solidFill>
                <a:latin typeface="+mn-lt"/>
              </a:rPr>
              <a:t>Thesis writing and final review</a:t>
            </a:r>
            <a:endParaRPr lang="en-US" sz="1300" dirty="0"/>
          </a:p>
        </p:txBody>
      </p:sp>
      <p:sp>
        <p:nvSpPr>
          <p:cNvPr id="247" name="GanttBar 247"/>
          <p:cNvSpPr/>
          <p:nvPr/>
        </p:nvSpPr>
        <p:spPr>
          <a:xfrm>
            <a:off x="10227564" y="5477256"/>
            <a:ext cx="1056132" cy="219456"/>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48" name="TodayLine 248"/>
          <p:cNvSpPr/>
          <p:nvPr/>
        </p:nvSpPr>
        <p:spPr>
          <a:xfrm>
            <a:off x="6675120" y="2240280"/>
            <a:ext cx="914" cy="3611880"/>
          </a:xfrm>
          <a:prstGeom prst="rect">
            <a:avLst/>
          </a:prstGeom>
          <a:noFill/>
          <a:ln w="22225">
            <a:solidFill>
              <a:srgbClr val="B5462F"/>
            </a:solidFill>
            <a:prstDash val="dash"/>
          </a:ln>
        </p:spPr>
        <p:txBody>
          <a:bodyPr wrap="square" lIns="91440" tIns="54864" rIns="91440" bIns="54864" anchor="t" rtlCol="0">
            <a:noAutofit/>
          </a:bodyPr>
          <a:lstStyle/>
          <a:p>
            <a:endParaRPr lang="en-US" sz="1200" dirty="0"/>
          </a:p>
        </p:txBody>
      </p:sp>
      <p:sp>
        <p:nvSpPr>
          <p:cNvPr id="249" name="TextBox 249"/>
          <p:cNvSpPr txBox="1"/>
          <p:nvPr/>
        </p:nvSpPr>
        <p:spPr>
          <a:xfrm>
            <a:off x="5303520" y="5870448"/>
            <a:ext cx="2743200" cy="274320"/>
          </a:xfrm>
          <a:prstGeom prst="rect">
            <a:avLst/>
          </a:prstGeom>
          <a:noFill/>
          <a:ln>
            <a:noFill/>
          </a:ln>
        </p:spPr>
        <p:txBody>
          <a:bodyPr wrap="square" lIns="0" tIns="0" rIns="0" bIns="0" anchor="t" rtlCol="0">
            <a:noAutofit/>
          </a:bodyPr>
          <a:lstStyle/>
          <a:p>
            <a:pPr algn="ctr" marL="0" indent="0">
              <a:spcBef>
                <a:spcPts val="0"/>
              </a:spcBef>
              <a:spcAft>
                <a:spcPts val="0"/>
              </a:spcAft>
              <a:buNone/>
            </a:pPr>
            <a:r>
              <a:rPr lang="en-US" sz="1200" b="1" i="0" dirty="0">
                <a:solidFill>
                  <a:srgbClr val="B5462F"/>
                </a:solidFill>
                <a:latin typeface="+mn-lt"/>
              </a:rPr>
              <a:t>Review 1 (today)</a:t>
            </a:r>
            <a:endParaRPr lang="en-US" sz="1200" dirty="0"/>
          </a:p>
        </p:txBody>
      </p:sp>
      <p:sp>
        <p:nvSpPr>
          <p:cNvPr id="250" name="Legend 250"/>
          <p:cNvSpPr/>
          <p:nvPr/>
        </p:nvSpPr>
        <p:spPr>
          <a:xfrm>
            <a:off x="868680" y="6272784"/>
            <a:ext cx="365760" cy="182880"/>
          </a:xfrm>
          <a:prstGeom prst="roundRect">
            <a:avLst>
              <a:gd name="adj" fmla="val 30000"/>
            </a:avLst>
          </a:prstGeom>
          <a:solidFill>
            <a:srgbClr val="1B7F79"/>
          </a:solidFill>
          <a:ln>
            <a:noFill/>
          </a:ln>
        </p:spPr>
        <p:txBody>
          <a:bodyPr wrap="square" lIns="91440" tIns="54864" rIns="91440" bIns="54864" anchor="t" rtlCol="0">
            <a:noAutofit/>
          </a:bodyPr>
          <a:lstStyle/>
          <a:p>
            <a:endParaRPr lang="en-US" sz="1200" dirty="0"/>
          </a:p>
        </p:txBody>
      </p:sp>
      <p:sp>
        <p:nvSpPr>
          <p:cNvPr id="251" name="TextBox 251"/>
          <p:cNvSpPr txBox="1"/>
          <p:nvPr/>
        </p:nvSpPr>
        <p:spPr>
          <a:xfrm>
            <a:off x="1325880" y="6217920"/>
            <a:ext cx="146304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1F2A33"/>
                </a:solidFill>
                <a:latin typeface="+mn-lt"/>
              </a:rPr>
              <a:t>Completed</a:t>
            </a:r>
            <a:endParaRPr lang="en-US" sz="1200" dirty="0"/>
          </a:p>
        </p:txBody>
      </p:sp>
      <p:sp>
        <p:nvSpPr>
          <p:cNvPr id="252" name="Legend 252"/>
          <p:cNvSpPr/>
          <p:nvPr/>
        </p:nvSpPr>
        <p:spPr>
          <a:xfrm>
            <a:off x="2697480" y="6272784"/>
            <a:ext cx="365760" cy="182880"/>
          </a:xfrm>
          <a:prstGeom prst="roundRect">
            <a:avLst>
              <a:gd name="adj" fmla="val 30000"/>
            </a:avLst>
          </a:prstGeom>
          <a:solidFill>
            <a:srgbClr val="FCEFD9"/>
          </a:solidFill>
          <a:ln w="12700">
            <a:solidFill>
              <a:srgbClr val="D98C1F"/>
            </a:solidFill>
          </a:ln>
        </p:spPr>
        <p:txBody>
          <a:bodyPr wrap="square" lIns="91440" tIns="54864" rIns="91440" bIns="54864" anchor="t" rtlCol="0">
            <a:noAutofit/>
          </a:bodyPr>
          <a:lstStyle/>
          <a:p>
            <a:endParaRPr lang="en-US" sz="1200" dirty="0"/>
          </a:p>
        </p:txBody>
      </p:sp>
      <p:sp>
        <p:nvSpPr>
          <p:cNvPr id="253" name="TextBox 253"/>
          <p:cNvSpPr txBox="1"/>
          <p:nvPr/>
        </p:nvSpPr>
        <p:spPr>
          <a:xfrm>
            <a:off x="3154680" y="6217920"/>
            <a:ext cx="146304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1F2A33"/>
                </a:solidFill>
                <a:latin typeface="+mn-lt"/>
              </a:rPr>
              <a:t>Planned</a:t>
            </a:r>
            <a:endParaRPr lang="en-US" sz="1200" dirty="0"/>
          </a:p>
        </p:txBody>
      </p:sp>
    </p:spTree>
    <p:extLst>
      <p:ext uri="{BB962C8B-B14F-4D97-AF65-F5344CB8AC3E}">
        <p14:creationId xmlns:p14="http://schemas.microsoft.com/office/powerpoint/2010/main" val="408630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References</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11</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254" name="TextBox 254"/>
          <p:cNvSpPr txBox="1"/>
          <p:nvPr/>
        </p:nvSpPr>
        <p:spPr>
          <a:xfrm>
            <a:off x="868680" y="1737360"/>
            <a:ext cx="5074920" cy="4434840"/>
          </a:xfrm>
          <a:prstGeom prst="rect">
            <a:avLst/>
          </a:prstGeom>
          <a:noFill/>
          <a:ln>
            <a:noFill/>
          </a:ln>
        </p:spPr>
        <p:txBody>
          <a:bodyPr wrap="square" lIns="0" tIns="0" rIns="0" bIns="0" anchor="t" rtlCol="0">
            <a:noAutofit/>
          </a:bodyPr>
          <a:lstStyle/>
          <a:p>
            <a:pPr marL="384048" indent="-384048">
              <a:spcAft>
                <a:spcPts val="500"/>
              </a:spcAft>
              <a:buNone/>
            </a:pPr>
            <a:r>
              <a:rPr lang="en-US" sz="1050" b="1" i="0" dirty="0">
                <a:solidFill>
                  <a:srgbClr val="12355B"/>
                </a:solidFill>
                <a:latin typeface="+mn-lt"/>
              </a:rPr>
              <a:t xml:space="preserve">[1]	</a:t>
            </a:r>
            <a:r>
              <a:rPr lang="en-US" sz="1050" b="0" i="0" dirty="0">
                <a:solidFill>
                  <a:srgbClr val="1F2A33"/>
                </a:solidFill>
                <a:latin typeface="+mn-lt"/>
              </a:rPr>
              <a:t>E. Farhi, J. Goldstone, and S. Gutmann, “A quantum approximate optimization algorithm,” arXiv:1411.4028, 2014.</a:t>
            </a:r>
            <a:endParaRPr lang="en-US" sz="1050" dirty="0"/>
          </a:p>
          <a:p>
            <a:pPr marL="384048" indent="-384048">
              <a:spcAft>
                <a:spcPts val="500"/>
              </a:spcAft>
              <a:buNone/>
            </a:pPr>
            <a:r>
              <a:rPr lang="en-US" sz="1050" b="1" i="0" dirty="0">
                <a:solidFill>
                  <a:srgbClr val="12355B"/>
                </a:solidFill>
                <a:latin typeface="+mn-lt"/>
              </a:rPr>
              <a:t xml:space="preserve">[2]	</a:t>
            </a:r>
            <a:r>
              <a:rPr lang="en-US" sz="1050" b="0" i="0" dirty="0">
                <a:solidFill>
                  <a:srgbClr val="1F2A33"/>
                </a:solidFill>
                <a:latin typeface="+mn-lt"/>
              </a:rPr>
              <a:t>A. Lucas, “Ising formulations of many NP problems,” Front. Phys., vol. 2, art. 5, 2014.</a:t>
            </a:r>
            <a:endParaRPr lang="en-US" sz="1050" dirty="0"/>
          </a:p>
          <a:p>
            <a:pPr marL="384048" indent="-384048">
              <a:spcAft>
                <a:spcPts val="500"/>
              </a:spcAft>
              <a:buNone/>
            </a:pPr>
            <a:r>
              <a:rPr lang="en-US" sz="1050" b="1" i="0" dirty="0">
                <a:solidFill>
                  <a:srgbClr val="12355B"/>
                </a:solidFill>
                <a:latin typeface="+mn-lt"/>
              </a:rPr>
              <a:t xml:space="preserve">[3]	</a:t>
            </a:r>
            <a:r>
              <a:rPr lang="en-US" sz="1050" b="0" i="0" dirty="0">
                <a:solidFill>
                  <a:srgbClr val="1F2A33"/>
                </a:solidFill>
                <a:latin typeface="+mn-lt"/>
              </a:rPr>
              <a:t>F. Glover, G. Kochenberger, and Y. Du, “Quantum Bridge Analytics I: A tutorial on formulating and using QUBO models,” 4OR, vol. 17, no. 4, pp. 335–371, 2019.</a:t>
            </a:r>
            <a:endParaRPr lang="en-US" sz="1050" dirty="0"/>
          </a:p>
          <a:p>
            <a:pPr marL="384048" indent="-384048">
              <a:spcAft>
                <a:spcPts val="500"/>
              </a:spcAft>
              <a:buNone/>
            </a:pPr>
            <a:r>
              <a:rPr lang="en-US" sz="1050" b="1" i="0" dirty="0">
                <a:solidFill>
                  <a:srgbClr val="12355B"/>
                </a:solidFill>
                <a:latin typeface="+mn-lt"/>
              </a:rPr>
              <a:t xml:space="preserve">[4]	</a:t>
            </a:r>
            <a:r>
              <a:rPr lang="en-US" sz="1050" b="0" i="0" dirty="0">
                <a:solidFill>
                  <a:srgbClr val="1F2A33"/>
                </a:solidFill>
                <a:latin typeface="+mn-lt"/>
              </a:rPr>
              <a:t>G. Reinelt, “TSPLIB—A traveling salesman problem library,” ORSA J. Comput., vol. 3, no. 4, pp. 376–384, 1991.</a:t>
            </a:r>
            <a:endParaRPr lang="en-US" sz="1050" dirty="0"/>
          </a:p>
          <a:p>
            <a:pPr marL="384048" indent="-384048">
              <a:spcAft>
                <a:spcPts val="500"/>
              </a:spcAft>
              <a:buNone/>
            </a:pPr>
            <a:r>
              <a:rPr lang="en-US" sz="1050" b="1" i="0" dirty="0">
                <a:solidFill>
                  <a:srgbClr val="12355B"/>
                </a:solidFill>
                <a:latin typeface="+mn-lt"/>
              </a:rPr>
              <a:t xml:space="preserve">[5]	</a:t>
            </a:r>
            <a:r>
              <a:rPr lang="en-US" sz="1050" b="0" i="0" dirty="0">
                <a:solidFill>
                  <a:srgbClr val="1F2A33"/>
                </a:solidFill>
                <a:latin typeface="+mn-lt"/>
              </a:rPr>
              <a:t>R. Ayanzadeh, M. Halem, and T. Finin, “Reinforcement quantum annealing: A hybrid quantum learning automata,” Sci. Rep., vol. 10, art. 7952, 2020.</a:t>
            </a:r>
            <a:endParaRPr lang="en-US" sz="1050" dirty="0"/>
          </a:p>
          <a:p>
            <a:pPr marL="384048" indent="-384048">
              <a:spcAft>
                <a:spcPts val="500"/>
              </a:spcAft>
              <a:buNone/>
            </a:pPr>
            <a:r>
              <a:rPr lang="en-US" sz="1050" b="1" i="0" dirty="0">
                <a:solidFill>
                  <a:srgbClr val="12355B"/>
                </a:solidFill>
                <a:latin typeface="+mn-lt"/>
              </a:rPr>
              <a:t xml:space="preserve">[6]	</a:t>
            </a:r>
            <a:r>
              <a:rPr lang="en-US" sz="1050" b="0" i="0" dirty="0">
                <a:solidFill>
                  <a:srgbClr val="1F2A33"/>
                </a:solidFill>
                <a:latin typeface="+mn-lt"/>
              </a:rPr>
              <a:t>M. D. Garcia, M. Ayodele, and A. Moraglio, “Exact and sequential penalty weights in quadratic unconstrained binary optimisation with a digital annealer,” in Proc. GECCO Companion, ACM, 2022.</a:t>
            </a:r>
            <a:endParaRPr lang="en-US" sz="1050" dirty="0"/>
          </a:p>
          <a:p>
            <a:pPr marL="384048" indent="-384048">
              <a:spcAft>
                <a:spcPts val="500"/>
              </a:spcAft>
              <a:buNone/>
            </a:pPr>
            <a:r>
              <a:rPr lang="en-US" sz="1050" b="1" i="0" dirty="0">
                <a:solidFill>
                  <a:srgbClr val="12355B"/>
                </a:solidFill>
                <a:latin typeface="+mn-lt"/>
              </a:rPr>
              <a:t xml:space="preserve">[7]	</a:t>
            </a:r>
            <a:r>
              <a:rPr lang="en-US" sz="1050" b="0" i="0" dirty="0">
                <a:solidFill>
                  <a:srgbClr val="1F2A33"/>
                </a:solidFill>
                <a:latin typeface="+mn-lt"/>
              </a:rPr>
              <a:t>J. Liu and A. Moraglio, “A framework for automatically setting multiple penalty weights in quadratic unconstrained binary optimization,” in Proc. GECCO, ACM, 2025.</a:t>
            </a:r>
            <a:endParaRPr lang="en-US" sz="1050" dirty="0"/>
          </a:p>
          <a:p>
            <a:pPr marL="384048" indent="-384048">
              <a:spcAft>
                <a:spcPts val="500"/>
              </a:spcAft>
              <a:buNone/>
            </a:pPr>
            <a:r>
              <a:rPr lang="en-US" sz="1050" b="1" i="0" dirty="0">
                <a:solidFill>
                  <a:srgbClr val="12355B"/>
                </a:solidFill>
                <a:latin typeface="+mn-lt"/>
              </a:rPr>
              <a:t xml:space="preserve">[8]	</a:t>
            </a:r>
            <a:r>
              <a:rPr lang="en-US" sz="1050" b="0" i="0" dirty="0">
                <a:solidFill>
                  <a:srgbClr val="1F2A33"/>
                </a:solidFill>
                <a:latin typeface="+mn-lt"/>
              </a:rPr>
              <a:t>R. Rusnáková, M. Chovanec, and J. Gazda, “Minimum bisection problem: Machine learning-based penalty parameter tuning for optimization on quantum annealers,” arXiv:2509.19005, 2025.</a:t>
            </a:r>
            <a:endParaRPr lang="en-US" sz="1050" dirty="0"/>
          </a:p>
          <a:p>
            <a:pPr marL="384048" indent="-384048">
              <a:spcAft>
                <a:spcPts val="500"/>
              </a:spcAft>
              <a:buNone/>
            </a:pPr>
            <a:r>
              <a:rPr lang="en-US" sz="1050" b="1" i="0" dirty="0">
                <a:solidFill>
                  <a:srgbClr val="12355B"/>
                </a:solidFill>
                <a:latin typeface="+mn-lt"/>
              </a:rPr>
              <a:t xml:space="preserve">[9]	</a:t>
            </a:r>
            <a:r>
              <a:rPr lang="en-US" sz="1050" b="0" i="0" dirty="0">
                <a:solidFill>
                  <a:srgbClr val="1F2A33"/>
                </a:solidFill>
                <a:latin typeface="+mn-lt"/>
              </a:rPr>
              <a:t>E. Alessandroni et al., “Scalable determination of penalization weights for constrained optimizations on approximate solvers,” arXiv:2604.02416, 2026.</a:t>
            </a:r>
            <a:endParaRPr lang="en-US" sz="1050" dirty="0"/>
          </a:p>
        </p:txBody>
      </p:sp>
      <p:sp>
        <p:nvSpPr>
          <p:cNvPr id="255" name="TextBox 255"/>
          <p:cNvSpPr txBox="1"/>
          <p:nvPr/>
        </p:nvSpPr>
        <p:spPr>
          <a:xfrm>
            <a:off x="6263640" y="1737360"/>
            <a:ext cx="5074920" cy="4434840"/>
          </a:xfrm>
          <a:prstGeom prst="rect">
            <a:avLst/>
          </a:prstGeom>
          <a:noFill/>
          <a:ln>
            <a:noFill/>
          </a:ln>
        </p:spPr>
        <p:txBody>
          <a:bodyPr wrap="square" lIns="0" tIns="0" rIns="0" bIns="0" anchor="t" rtlCol="0">
            <a:noAutofit/>
          </a:bodyPr>
          <a:lstStyle/>
          <a:p>
            <a:pPr marL="384048" indent="-384048">
              <a:spcAft>
                <a:spcPts val="500"/>
              </a:spcAft>
              <a:buNone/>
            </a:pPr>
            <a:r>
              <a:rPr lang="en-US" sz="1050" b="1" i="0" dirty="0">
                <a:solidFill>
                  <a:srgbClr val="12355B"/>
                </a:solidFill>
                <a:latin typeface="+mn-lt"/>
              </a:rPr>
              <a:t xml:space="preserve">[10]	</a:t>
            </a:r>
            <a:r>
              <a:rPr lang="en-US" sz="1050" b="0" i="0" dirty="0">
                <a:solidFill>
                  <a:srgbClr val="1F2A33"/>
                </a:solidFill>
                <a:latin typeface="+mn-lt"/>
              </a:rPr>
              <a:t>F. Ferrari, M. Vandelli, and D. Dragoni, “Feasibility-driven QAOA with penalty scheduling,” arXiv:2606.25117, 2026.</a:t>
            </a:r>
            <a:endParaRPr lang="en-US" sz="1050" dirty="0"/>
          </a:p>
          <a:p>
            <a:pPr marL="384048" indent="-384048">
              <a:spcAft>
                <a:spcPts val="500"/>
              </a:spcAft>
              <a:buNone/>
            </a:pPr>
            <a:r>
              <a:rPr lang="en-US" sz="1050" b="1" i="0" dirty="0">
                <a:solidFill>
                  <a:srgbClr val="12355B"/>
                </a:solidFill>
                <a:latin typeface="+mn-lt"/>
              </a:rPr>
              <a:t xml:space="preserve">[11]	</a:t>
            </a:r>
            <a:r>
              <a:rPr lang="en-US" sz="1050" b="0" i="0" dirty="0">
                <a:solidFill>
                  <a:srgbClr val="1F2A33"/>
                </a:solidFill>
                <a:latin typeface="+mn-lt"/>
              </a:rPr>
              <a:t>Y. K. Rezk and P. Gora, “GNN-guided graph coarsening and adaptive QUBO penalties for the capacitated vehicle routing problem with time windows on a quantum annealer,” arXiv:2609.04593, 2026.</a:t>
            </a:r>
            <a:endParaRPr lang="en-US" sz="1050" dirty="0"/>
          </a:p>
          <a:p>
            <a:pPr marL="384048" indent="-384048">
              <a:spcAft>
                <a:spcPts val="500"/>
              </a:spcAft>
              <a:buNone/>
            </a:pPr>
            <a:r>
              <a:rPr lang="en-US" sz="1050" b="1" i="0" dirty="0">
                <a:solidFill>
                  <a:srgbClr val="12355B"/>
                </a:solidFill>
                <a:latin typeface="+mn-lt"/>
              </a:rPr>
              <a:t xml:space="preserve">[12]	</a:t>
            </a:r>
            <a:r>
              <a:rPr lang="en-US" sz="1050" b="0" i="0" dirty="0">
                <a:solidFill>
                  <a:srgbClr val="1F2A33"/>
                </a:solidFill>
                <a:latin typeface="+mn-lt"/>
              </a:rPr>
              <a:t>M. Sharma and H. C. Lau, “Hybrid learning and optimization methods for solving capacitated vehicle routing problem,” in Proc. AAAI Workshop QC+AI, CCIS, vol. 2872, Springer, 2026.</a:t>
            </a:r>
            <a:endParaRPr lang="en-US" sz="1050" dirty="0"/>
          </a:p>
          <a:p>
            <a:pPr marL="384048" indent="-384048">
              <a:spcAft>
                <a:spcPts val="500"/>
              </a:spcAft>
              <a:buNone/>
            </a:pPr>
            <a:r>
              <a:rPr lang="en-US" sz="1050" b="1" i="0" dirty="0">
                <a:solidFill>
                  <a:srgbClr val="12355B"/>
                </a:solidFill>
                <a:latin typeface="+mn-lt"/>
              </a:rPr>
              <a:t xml:space="preserve">[13]	</a:t>
            </a:r>
            <a:r>
              <a:rPr lang="en-US" sz="1050" b="0" i="0" dirty="0">
                <a:solidFill>
                  <a:srgbClr val="1F2A33"/>
                </a:solidFill>
                <a:latin typeface="+mn-lt"/>
              </a:rPr>
              <a:t>L. Cellini, A. Macaluso, and M. Lombardi, “QAL-BP: An augmented Lagrangian quantum approach for bin packing,” Sci. Rep., vol. 14, art. 5142, 2024.</a:t>
            </a:r>
            <a:endParaRPr lang="en-US" sz="1050" dirty="0"/>
          </a:p>
          <a:p>
            <a:pPr marL="384048" indent="-384048">
              <a:spcAft>
                <a:spcPts val="500"/>
              </a:spcAft>
              <a:buNone/>
            </a:pPr>
            <a:r>
              <a:rPr lang="en-US" sz="1050" b="1" i="0" dirty="0">
                <a:solidFill>
                  <a:srgbClr val="12355B"/>
                </a:solidFill>
                <a:latin typeface="+mn-lt"/>
              </a:rPr>
              <a:t xml:space="preserve">[14]	</a:t>
            </a:r>
            <a:r>
              <a:rPr lang="en-US" sz="1050" b="0" i="0" dirty="0">
                <a:solidFill>
                  <a:srgbClr val="1F2A33"/>
                </a:solidFill>
                <a:latin typeface="+mn-lt"/>
              </a:rPr>
              <a:t>H. C. Lau, “Beyond QAOA: A review of AI and quantum computing for adaptive combinatorial optimization,” arXiv:2610.11759, 2026.</a:t>
            </a:r>
            <a:endParaRPr lang="en-US" sz="1050" dirty="0"/>
          </a:p>
          <a:p>
            <a:pPr marL="384048" indent="-384048">
              <a:spcAft>
                <a:spcPts val="500"/>
              </a:spcAft>
              <a:buNone/>
            </a:pPr>
            <a:r>
              <a:rPr lang="en-US" sz="1050" b="1" i="0" dirty="0">
                <a:solidFill>
                  <a:srgbClr val="12355B"/>
                </a:solidFill>
                <a:latin typeface="+mn-lt"/>
              </a:rPr>
              <a:t xml:space="preserve">[15]	</a:t>
            </a:r>
            <a:r>
              <a:rPr lang="en-US" sz="1050" b="0" i="0" dirty="0">
                <a:solidFill>
                  <a:srgbClr val="1F2A33"/>
                </a:solidFill>
                <a:latin typeface="+mn-lt"/>
              </a:rPr>
              <a:t>J. Schulman, F. Wolski, P. Dhariwal, A. Radford, and O. Klimov, “Proximal policy optimization algorithms,” arXiv:1707.06347, 2017.</a:t>
            </a:r>
            <a:endParaRPr lang="en-US" sz="1050" dirty="0"/>
          </a:p>
          <a:p>
            <a:pPr marL="384048" indent="-384048">
              <a:spcAft>
                <a:spcPts val="500"/>
              </a:spcAft>
              <a:buNone/>
            </a:pPr>
            <a:r>
              <a:rPr lang="en-US" sz="1050" b="1" i="0" dirty="0">
                <a:solidFill>
                  <a:srgbClr val="12355B"/>
                </a:solidFill>
                <a:latin typeface="+mn-lt"/>
              </a:rPr>
              <a:t xml:space="preserve">[16]	</a:t>
            </a:r>
            <a:r>
              <a:rPr lang="en-US" sz="1050" b="0" i="0" dirty="0">
                <a:solidFill>
                  <a:srgbClr val="1F2A33"/>
                </a:solidFill>
                <a:latin typeface="+mn-lt"/>
              </a:rPr>
              <a:t>T. N. Kipf and M. Welling, “Semi-supervised classification with graph convolutional networks,” in Proc. ICLR, 2017.</a:t>
            </a:r>
            <a:endParaRPr lang="en-US" sz="1050" dirty="0"/>
          </a:p>
          <a:p>
            <a:pPr marL="384048" indent="-384048">
              <a:spcAft>
                <a:spcPts val="500"/>
              </a:spcAft>
              <a:buNone/>
            </a:pPr>
            <a:r>
              <a:rPr lang="en-US" sz="1050" b="1" i="0" dirty="0">
                <a:solidFill>
                  <a:srgbClr val="12355B"/>
                </a:solidFill>
                <a:latin typeface="+mn-lt"/>
              </a:rPr>
              <a:t xml:space="preserve">[17]	</a:t>
            </a:r>
            <a:r>
              <a:rPr lang="en-US" sz="1050" b="0" i="0" dirty="0">
                <a:solidFill>
                  <a:srgbClr val="1F2A33"/>
                </a:solidFill>
                <a:latin typeface="+mn-lt"/>
              </a:rPr>
              <a:t>S. Kirkpatrick, C. D. Gelatt, and M. P. Vecchi, “Optimization by simulated annealing,” Science, vol. 220, no. 4598, pp. 671–680, 1983.</a:t>
            </a:r>
            <a:endParaRPr lang="en-US" sz="1050" dirty="0"/>
          </a:p>
        </p:txBody>
      </p:sp>
    </p:spTree>
    <p:extLst>
      <p:ext uri="{BB962C8B-B14F-4D97-AF65-F5344CB8AC3E}">
        <p14:creationId xmlns:p14="http://schemas.microsoft.com/office/powerpoint/2010/main" val="861353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041" y="500062"/>
            <a:ext cx="10515600" cy="1325563"/>
          </a:xfrm>
        </p:spPr>
        <p:txBody>
          <a:bodyPr>
            <a:normAutofit/>
          </a:bodyPr>
          <a:lstStyle/>
          <a:p>
            <a:r>
              <a:rPr lang="en-IN" dirty="0"/>
              <a:t>Work Done So Far</a:t>
            </a:r>
          </a:p>
        </p:txBody>
      </p:sp>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fld id="{F193F5E7-1286-4B25-AAA4-07DE12CCF392}" type="slidenum">
              <a:rPr lang="en-US" sz="1600" smtClean="0"/>
              <a:t>9</a:t>
            </a:fld>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4043" y="78543"/>
            <a:ext cx="1861196" cy="866940"/>
          </a:xfrm>
          <a:prstGeom prst="rect">
            <a:avLst/>
          </a:prstGeom>
        </p:spPr>
      </p:pic>
      <p:sp>
        <p:nvSpPr>
          <p:cNvPr id="181" name="TextBox 181"/>
          <p:cNvSpPr txBox="1"/>
          <p:nvPr/>
        </p:nvSpPr>
        <p:spPr>
          <a:xfrm>
            <a:off x="868680" y="1737360"/>
            <a:ext cx="6583680" cy="36576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400" b="1" i="0" dirty="0">
                <a:solidFill>
                  <a:srgbClr val="12355B"/>
                </a:solidFill>
                <a:latin typeface="+mn-lt"/>
              </a:rPr>
              <a:t>Mean optimality gap on 9 official TSPLIB instances (lower is better)</a:t>
            </a:r>
            <a:endParaRPr lang="en-US" sz="1400" dirty="0"/>
          </a:p>
        </p:txBody>
      </p:sp>
      <p:sp>
        <p:nvSpPr>
          <p:cNvPr id="182" name="TextBox 182"/>
          <p:cNvSpPr txBox="1"/>
          <p:nvPr/>
        </p:nvSpPr>
        <p:spPr>
          <a:xfrm>
            <a:off x="868680" y="2212848"/>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1" i="0" dirty="0">
                <a:solidFill>
                  <a:srgbClr val="12355B"/>
                </a:solidFill>
                <a:latin typeface="+mn-lt"/>
              </a:rPr>
              <a:t>GRAL (ours)</a:t>
            </a:r>
            <a:endParaRPr lang="en-US" sz="1200" dirty="0"/>
          </a:p>
        </p:txBody>
      </p:sp>
      <p:sp>
        <p:nvSpPr>
          <p:cNvPr id="183" name="Bar 183"/>
          <p:cNvSpPr/>
          <p:nvPr/>
        </p:nvSpPr>
        <p:spPr>
          <a:xfrm>
            <a:off x="3063240" y="2240280"/>
            <a:ext cx="1943848" cy="237744"/>
          </a:xfrm>
          <a:prstGeom prst="rect">
            <a:avLst/>
          </a:prstGeom>
          <a:solidFill>
            <a:srgbClr val="D98C1F"/>
          </a:solidFill>
          <a:ln>
            <a:noFill/>
          </a:ln>
        </p:spPr>
        <p:txBody>
          <a:bodyPr wrap="square" lIns="91440" tIns="54864" rIns="91440" bIns="54864" anchor="t" rtlCol="0">
            <a:noAutofit/>
          </a:bodyPr>
          <a:lstStyle/>
          <a:p>
            <a:endParaRPr lang="en-US" sz="1200" dirty="0"/>
          </a:p>
        </p:txBody>
      </p:sp>
      <p:sp>
        <p:nvSpPr>
          <p:cNvPr id="184" name="TextBox 184"/>
          <p:cNvSpPr txBox="1"/>
          <p:nvPr/>
        </p:nvSpPr>
        <p:spPr>
          <a:xfrm>
            <a:off x="5080240" y="2212848"/>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1" i="0" dirty="0">
                <a:solidFill>
                  <a:srgbClr val="12355B"/>
                </a:solidFill>
                <a:latin typeface="+mn-lt"/>
              </a:rPr>
              <a:t>29.6%</a:t>
            </a:r>
            <a:endParaRPr lang="en-US" sz="1200" dirty="0"/>
          </a:p>
        </p:txBody>
      </p:sp>
      <p:sp>
        <p:nvSpPr>
          <p:cNvPr id="185" name="TextBox 185"/>
          <p:cNvSpPr txBox="1"/>
          <p:nvPr/>
        </p:nvSpPr>
        <p:spPr>
          <a:xfrm>
            <a:off x="868680" y="2606040"/>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Scalar PPO, no residual</a:t>
            </a:r>
            <a:endParaRPr lang="en-US" sz="1200" dirty="0"/>
          </a:p>
        </p:txBody>
      </p:sp>
      <p:sp>
        <p:nvSpPr>
          <p:cNvPr id="186" name="Bar 186"/>
          <p:cNvSpPr/>
          <p:nvPr/>
        </p:nvSpPr>
        <p:spPr>
          <a:xfrm>
            <a:off x="3063240" y="2633472"/>
            <a:ext cx="2114592"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187" name="TextBox 187"/>
          <p:cNvSpPr txBox="1"/>
          <p:nvPr/>
        </p:nvSpPr>
        <p:spPr>
          <a:xfrm>
            <a:off x="5250984" y="2606040"/>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32.2%</a:t>
            </a:r>
            <a:endParaRPr lang="en-US" sz="1200" dirty="0"/>
          </a:p>
        </p:txBody>
      </p:sp>
      <p:sp>
        <p:nvSpPr>
          <p:cNvPr id="188" name="TextBox 188"/>
          <p:cNvSpPr txBox="1"/>
          <p:nvPr/>
        </p:nvSpPr>
        <p:spPr>
          <a:xfrm>
            <a:off x="868680" y="2999232"/>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Scalar PPO</a:t>
            </a:r>
            <a:endParaRPr lang="en-US" sz="1200" dirty="0"/>
          </a:p>
        </p:txBody>
      </p:sp>
      <p:sp>
        <p:nvSpPr>
          <p:cNvPr id="189" name="Bar 189"/>
          <p:cNvSpPr/>
          <p:nvPr/>
        </p:nvSpPr>
        <p:spPr>
          <a:xfrm>
            <a:off x="3063240" y="3026664"/>
            <a:ext cx="2140860"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190" name="TextBox 190"/>
          <p:cNvSpPr txBox="1"/>
          <p:nvPr/>
        </p:nvSpPr>
        <p:spPr>
          <a:xfrm>
            <a:off x="5277252" y="2999232"/>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32.6%</a:t>
            </a:r>
            <a:endParaRPr lang="en-US" sz="1200" dirty="0"/>
          </a:p>
        </p:txBody>
      </p:sp>
      <p:sp>
        <p:nvSpPr>
          <p:cNvPr id="191" name="TextBox 191"/>
          <p:cNvSpPr txBox="1"/>
          <p:nvPr/>
        </p:nvSpPr>
        <p:spPr>
          <a:xfrm>
            <a:off x="868680" y="3392424"/>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Per-constraint rule</a:t>
            </a:r>
            <a:endParaRPr lang="en-US" sz="1200" dirty="0"/>
          </a:p>
        </p:txBody>
      </p:sp>
      <p:sp>
        <p:nvSpPr>
          <p:cNvPr id="192" name="Bar 192"/>
          <p:cNvSpPr/>
          <p:nvPr/>
        </p:nvSpPr>
        <p:spPr>
          <a:xfrm>
            <a:off x="3063240" y="3419856"/>
            <a:ext cx="2153994"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193" name="TextBox 193"/>
          <p:cNvSpPr txBox="1"/>
          <p:nvPr/>
        </p:nvSpPr>
        <p:spPr>
          <a:xfrm>
            <a:off x="5290386" y="3392424"/>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32.8%</a:t>
            </a:r>
            <a:endParaRPr lang="en-US" sz="1200" dirty="0"/>
          </a:p>
        </p:txBody>
      </p:sp>
      <p:sp>
        <p:nvSpPr>
          <p:cNvPr id="194" name="TextBox 194"/>
          <p:cNvSpPr txBox="1"/>
          <p:nvPr/>
        </p:nvSpPr>
        <p:spPr>
          <a:xfrm>
            <a:off x="868680" y="3785616"/>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Scalar adaptive</a:t>
            </a:r>
            <a:endParaRPr lang="en-US" sz="1200" dirty="0"/>
          </a:p>
        </p:txBody>
      </p:sp>
      <p:sp>
        <p:nvSpPr>
          <p:cNvPr id="195" name="Bar 195"/>
          <p:cNvSpPr/>
          <p:nvPr/>
        </p:nvSpPr>
        <p:spPr>
          <a:xfrm>
            <a:off x="3063240" y="3813048"/>
            <a:ext cx="2232799"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196" name="TextBox 196"/>
          <p:cNvSpPr txBox="1"/>
          <p:nvPr/>
        </p:nvSpPr>
        <p:spPr>
          <a:xfrm>
            <a:off x="5369191" y="3785616"/>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34.0%</a:t>
            </a:r>
            <a:endParaRPr lang="en-US" sz="1200" dirty="0"/>
          </a:p>
        </p:txBody>
      </p:sp>
      <p:sp>
        <p:nvSpPr>
          <p:cNvPr id="197" name="TextBox 197"/>
          <p:cNvSpPr txBox="1"/>
          <p:nvPr/>
        </p:nvSpPr>
        <p:spPr>
          <a:xfrm>
            <a:off x="868680" y="4178808"/>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Grid-tuned fixed λ*</a:t>
            </a:r>
            <a:endParaRPr lang="en-US" sz="1200" dirty="0"/>
          </a:p>
        </p:txBody>
      </p:sp>
      <p:sp>
        <p:nvSpPr>
          <p:cNvPr id="198" name="Bar 198"/>
          <p:cNvSpPr/>
          <p:nvPr/>
        </p:nvSpPr>
        <p:spPr>
          <a:xfrm>
            <a:off x="3063240" y="4206240"/>
            <a:ext cx="2259067"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199" name="TextBox 199"/>
          <p:cNvSpPr txBox="1"/>
          <p:nvPr/>
        </p:nvSpPr>
        <p:spPr>
          <a:xfrm>
            <a:off x="5395459" y="4178808"/>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34.4%</a:t>
            </a:r>
            <a:endParaRPr lang="en-US" sz="1200" dirty="0"/>
          </a:p>
        </p:txBody>
      </p:sp>
      <p:sp>
        <p:nvSpPr>
          <p:cNvPr id="200" name="TextBox 200"/>
          <p:cNvSpPr txBox="1"/>
          <p:nvPr/>
        </p:nvSpPr>
        <p:spPr>
          <a:xfrm>
            <a:off x="868680" y="4572000"/>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ALM dual ascent</a:t>
            </a:r>
            <a:endParaRPr lang="en-US" sz="1200" dirty="0"/>
          </a:p>
        </p:txBody>
      </p:sp>
      <p:sp>
        <p:nvSpPr>
          <p:cNvPr id="201" name="Bar 201"/>
          <p:cNvSpPr/>
          <p:nvPr/>
        </p:nvSpPr>
        <p:spPr>
          <a:xfrm>
            <a:off x="3063240" y="4599432"/>
            <a:ext cx="2442944"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202" name="TextBox 202"/>
          <p:cNvSpPr txBox="1"/>
          <p:nvPr/>
        </p:nvSpPr>
        <p:spPr>
          <a:xfrm>
            <a:off x="5579336" y="4572000"/>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37.2%</a:t>
            </a:r>
            <a:endParaRPr lang="en-US" sz="1200" dirty="0"/>
          </a:p>
        </p:txBody>
      </p:sp>
      <p:sp>
        <p:nvSpPr>
          <p:cNvPr id="203" name="TextBox 203"/>
          <p:cNvSpPr txBox="1"/>
          <p:nvPr/>
        </p:nvSpPr>
        <p:spPr>
          <a:xfrm>
            <a:off x="868680" y="4965192"/>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GRAL, no residual</a:t>
            </a:r>
            <a:endParaRPr lang="en-US" sz="1200" dirty="0"/>
          </a:p>
        </p:txBody>
      </p:sp>
      <p:sp>
        <p:nvSpPr>
          <p:cNvPr id="204" name="Bar 204"/>
          <p:cNvSpPr/>
          <p:nvPr/>
        </p:nvSpPr>
        <p:spPr>
          <a:xfrm>
            <a:off x="3063240" y="4992624"/>
            <a:ext cx="2482347"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205" name="TextBox 205"/>
          <p:cNvSpPr txBox="1"/>
          <p:nvPr/>
        </p:nvSpPr>
        <p:spPr>
          <a:xfrm>
            <a:off x="5618739" y="4965192"/>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37.8%</a:t>
            </a:r>
            <a:endParaRPr lang="en-US" sz="1200" dirty="0"/>
          </a:p>
        </p:txBody>
      </p:sp>
      <p:sp>
        <p:nvSpPr>
          <p:cNvPr id="206" name="TextBox 206"/>
          <p:cNvSpPr txBox="1"/>
          <p:nvPr/>
        </p:nvSpPr>
        <p:spPr>
          <a:xfrm>
            <a:off x="868680" y="5358384"/>
            <a:ext cx="2103120" cy="292608"/>
          </a:xfrm>
          <a:prstGeom prst="rect">
            <a:avLst/>
          </a:prstGeom>
          <a:noFill/>
          <a:ln>
            <a:noFill/>
          </a:ln>
        </p:spPr>
        <p:txBody>
          <a:bodyPr wrap="square" lIns="0" tIns="0" rIns="0" bIns="0" anchor="ctr" rtlCol="0">
            <a:noAutofit/>
          </a:bodyPr>
          <a:lstStyle/>
          <a:p>
            <a:pPr algn="r" marL="0" indent="0">
              <a:spcBef>
                <a:spcPts val="0"/>
              </a:spcBef>
              <a:spcAft>
                <a:spcPts val="0"/>
              </a:spcAft>
              <a:buNone/>
            </a:pPr>
            <a:r>
              <a:rPr lang="en-US" sz="1200" b="0" i="0" dirty="0">
                <a:solidFill>
                  <a:srgbClr val="1F2A33"/>
                </a:solidFill>
                <a:latin typeface="+mn-lt"/>
              </a:rPr>
              <a:t>Fixed λ = 1</a:t>
            </a:r>
            <a:endParaRPr lang="en-US" sz="1200" dirty="0"/>
          </a:p>
        </p:txBody>
      </p:sp>
      <p:sp>
        <p:nvSpPr>
          <p:cNvPr id="207" name="Bar 207"/>
          <p:cNvSpPr/>
          <p:nvPr/>
        </p:nvSpPr>
        <p:spPr>
          <a:xfrm>
            <a:off x="3063240" y="5385816"/>
            <a:ext cx="3500240" cy="237744"/>
          </a:xfrm>
          <a:prstGeom prst="rect">
            <a:avLst/>
          </a:prstGeom>
          <a:solidFill>
            <a:srgbClr val="9FB8BC"/>
          </a:solidFill>
          <a:ln>
            <a:noFill/>
          </a:ln>
        </p:spPr>
        <p:txBody>
          <a:bodyPr wrap="square" lIns="91440" tIns="54864" rIns="91440" bIns="54864" anchor="t" rtlCol="0">
            <a:noAutofit/>
          </a:bodyPr>
          <a:lstStyle/>
          <a:p>
            <a:endParaRPr lang="en-US" sz="1200" dirty="0"/>
          </a:p>
        </p:txBody>
      </p:sp>
      <p:sp>
        <p:nvSpPr>
          <p:cNvPr id="208" name="TextBox 208"/>
          <p:cNvSpPr txBox="1"/>
          <p:nvPr/>
        </p:nvSpPr>
        <p:spPr>
          <a:xfrm>
            <a:off x="6636632" y="5358384"/>
            <a:ext cx="731520" cy="292608"/>
          </a:xfrm>
          <a:prstGeom prst="rect">
            <a:avLst/>
          </a:prstGeom>
          <a:noFill/>
          <a:ln>
            <a:noFill/>
          </a:ln>
        </p:spPr>
        <p:txBody>
          <a:bodyPr wrap="square" lIns="0" tIns="0" rIns="0" bIns="0" anchor="ctr" rtlCol="0">
            <a:noAutofit/>
          </a:bodyPr>
          <a:lstStyle/>
          <a:p>
            <a:pPr algn="l" marL="0" indent="0">
              <a:spcBef>
                <a:spcPts val="0"/>
              </a:spcBef>
              <a:spcAft>
                <a:spcPts val="0"/>
              </a:spcAft>
              <a:buNone/>
            </a:pPr>
            <a:r>
              <a:rPr lang="en-US" sz="1200" b="0" i="0" dirty="0">
                <a:solidFill>
                  <a:srgbClr val="5B6770"/>
                </a:solidFill>
                <a:latin typeface="+mn-lt"/>
              </a:rPr>
              <a:t>53.3%</a:t>
            </a:r>
            <a:endParaRPr lang="en-US" sz="1200" dirty="0"/>
          </a:p>
        </p:txBody>
      </p:sp>
      <p:sp>
        <p:nvSpPr>
          <p:cNvPr id="209" name="TextBox 209"/>
          <p:cNvSpPr txBox="1"/>
          <p:nvPr/>
        </p:nvSpPr>
        <p:spPr>
          <a:xfrm>
            <a:off x="868680" y="5788152"/>
            <a:ext cx="6583680" cy="411480"/>
          </a:xfrm>
          <a:prstGeom prst="rect">
            <a:avLst/>
          </a:prstGeom>
          <a:noFill/>
          <a:ln>
            <a:noFill/>
          </a:ln>
        </p:spPr>
        <p:txBody>
          <a:bodyPr wrap="square" lIns="0" tIns="0" rIns="0" bIns="0" anchor="t" rtlCol="0">
            <a:noAutofit/>
          </a:bodyPr>
          <a:lstStyle/>
          <a:p>
            <a:pPr algn="l" marL="0" indent="0">
              <a:spcBef>
                <a:spcPts val="0"/>
              </a:spcBef>
              <a:spcAft>
                <a:spcPts val="0"/>
              </a:spcAft>
              <a:buNone/>
            </a:pPr>
            <a:r>
              <a:rPr lang="en-US" sz="1050" b="0" i="1" dirty="0">
                <a:solidFill>
                  <a:srgbClr val="5B6770"/>
                </a:solidFill>
                <a:latin typeface="+mn-lt"/>
              </a:rPr>
              <a:t>10 runs per instance, identical solver budget. *Grid-tuned λ found a valid tour in only 78% of runs.</a:t>
            </a:r>
            <a:endParaRPr lang="en-US" sz="1050" dirty="0"/>
          </a:p>
        </p:txBody>
      </p:sp>
      <p:sp>
        <p:nvSpPr>
          <p:cNvPr id="210" name="Card 210"/>
          <p:cNvSpPr/>
          <p:nvPr/>
        </p:nvSpPr>
        <p:spPr>
          <a:xfrm>
            <a:off x="7726680" y="1783080"/>
            <a:ext cx="3611880" cy="1280160"/>
          </a:xfrm>
          <a:prstGeom prst="roundRect">
            <a:avLst>
              <a:gd name="adj" fmla="val 6000"/>
            </a:avLst>
          </a:prstGeom>
          <a:solidFill>
            <a:srgbClr val="E3F1EF"/>
          </a:solidFill>
          <a:ln>
            <a:noFill/>
          </a:ln>
        </p:spPr>
        <p:txBody>
          <a:bodyPr wrap="square" lIns="182880" tIns="91440" rIns="137160" bIns="73152" anchor="t" rtlCol="0">
            <a:noAutofit/>
          </a:bodyPr>
          <a:lstStyle/>
          <a:p>
            <a:pPr algn="l" marL="0" indent="0">
              <a:spcBef>
                <a:spcPts val="0"/>
              </a:spcBef>
              <a:spcAft>
                <a:spcPts val="0"/>
              </a:spcAft>
              <a:buNone/>
            </a:pPr>
            <a:r>
              <a:rPr lang="en-US" sz="2600" b="1" i="0" dirty="0">
                <a:solidFill>
                  <a:srgbClr val="1B7F79"/>
                </a:solidFill>
                <a:latin typeface="+mn-lt"/>
              </a:rPr>
              <a:t>1st of 9</a:t>
            </a:r>
            <a:endParaRPr lang="en-US" sz="2600" dirty="0"/>
          </a:p>
          <a:p>
            <a:pPr algn="l" marL="0" indent="0">
              <a:spcBef>
                <a:spcPts val="200"/>
              </a:spcBef>
              <a:spcAft>
                <a:spcPts val="0"/>
              </a:spcAft>
              <a:buNone/>
            </a:pPr>
            <a:r>
              <a:rPr lang="en-US" sz="1200" b="0" i="0" dirty="0">
                <a:solidFill>
                  <a:srgbClr val="1F2A33"/>
                </a:solidFill>
                <a:latin typeface="+mn-lt"/>
              </a:rPr>
              <a:t>on official TSPLIB (14–29 cities, up to 784 variables); significantly better than all 8 others (p &lt; 0.001)</a:t>
            </a:r>
            <a:endParaRPr lang="en-US" sz="1200" dirty="0"/>
          </a:p>
        </p:txBody>
      </p:sp>
      <p:sp>
        <p:nvSpPr>
          <p:cNvPr id="211" name="Card 211"/>
          <p:cNvSpPr/>
          <p:nvPr/>
        </p:nvSpPr>
        <p:spPr>
          <a:xfrm>
            <a:off x="7726680" y="3246120"/>
            <a:ext cx="3611880" cy="1280160"/>
          </a:xfrm>
          <a:prstGeom prst="roundRect">
            <a:avLst>
              <a:gd name="adj" fmla="val 6000"/>
            </a:avLst>
          </a:prstGeom>
          <a:solidFill>
            <a:srgbClr val="E3F1EF"/>
          </a:solidFill>
          <a:ln>
            <a:noFill/>
          </a:ln>
        </p:spPr>
        <p:txBody>
          <a:bodyPr wrap="square" lIns="182880" tIns="91440" rIns="137160" bIns="73152" anchor="t" rtlCol="0">
            <a:noAutofit/>
          </a:bodyPr>
          <a:lstStyle/>
          <a:p>
            <a:pPr algn="l" marL="0" indent="0">
              <a:spcBef>
                <a:spcPts val="0"/>
              </a:spcBef>
              <a:spcAft>
                <a:spcPts val="0"/>
              </a:spcAft>
              <a:buNone/>
            </a:pPr>
            <a:r>
              <a:rPr lang="en-US" sz="2600" b="1" i="0" dirty="0">
                <a:solidFill>
                  <a:srgbClr val="1B7F79"/>
                </a:solidFill>
                <a:latin typeface="+mn-lt"/>
              </a:rPr>
              <a:t>6.16%</a:t>
            </a:r>
            <a:endParaRPr lang="en-US" sz="2600" dirty="0"/>
          </a:p>
          <a:p>
            <a:pPr algn="l" marL="0" indent="0">
              <a:spcBef>
                <a:spcPts val="200"/>
              </a:spcBef>
              <a:spcAft>
                <a:spcPts val="0"/>
              </a:spcAft>
              <a:buNone/>
            </a:pPr>
            <a:r>
              <a:rPr lang="en-US" sz="1200" b="0" i="0" dirty="0">
                <a:solidFill>
                  <a:srgbClr val="1F2A33"/>
                </a:solidFill>
                <a:latin typeface="+mn-lt"/>
              </a:rPr>
              <a:t>mean gap on unseen random 10–16-city instances + burma14; ranked 1st of 9 methods</a:t>
            </a:r>
            <a:endParaRPr lang="en-US" sz="1200" dirty="0"/>
          </a:p>
        </p:txBody>
      </p:sp>
      <p:sp>
        <p:nvSpPr>
          <p:cNvPr id="212" name="Card 212"/>
          <p:cNvSpPr/>
          <p:nvPr/>
        </p:nvSpPr>
        <p:spPr>
          <a:xfrm>
            <a:off x="7726680" y="4709160"/>
            <a:ext cx="3611880" cy="1280160"/>
          </a:xfrm>
          <a:prstGeom prst="roundRect">
            <a:avLst>
              <a:gd name="adj" fmla="val 6000"/>
            </a:avLst>
          </a:prstGeom>
          <a:solidFill>
            <a:srgbClr val="E3F1EF"/>
          </a:solidFill>
          <a:ln>
            <a:noFill/>
          </a:ln>
        </p:spPr>
        <p:txBody>
          <a:bodyPr wrap="square" lIns="182880" tIns="91440" rIns="137160" bIns="73152" anchor="t" rtlCol="0">
            <a:noAutofit/>
          </a:bodyPr>
          <a:lstStyle/>
          <a:p>
            <a:pPr algn="l" marL="0" indent="0">
              <a:spcBef>
                <a:spcPts val="0"/>
              </a:spcBef>
              <a:spcAft>
                <a:spcPts val="0"/>
              </a:spcAft>
              <a:buNone/>
            </a:pPr>
            <a:r>
              <a:rPr lang="en-US" sz="2600" b="1" i="0" dirty="0">
                <a:solidFill>
                  <a:srgbClr val="1B7F79"/>
                </a:solidFill>
                <a:latin typeface="+mn-lt"/>
              </a:rPr>
              <a:t>0.44% vs 0.98%</a:t>
            </a:r>
            <a:endParaRPr lang="en-US" sz="2600" dirty="0"/>
          </a:p>
          <a:p>
            <a:pPr algn="l" marL="0" indent="0">
              <a:spcBef>
                <a:spcPts val="200"/>
              </a:spcBef>
              <a:spcAft>
                <a:spcPts val="0"/>
              </a:spcAft>
              <a:buNone/>
            </a:pPr>
            <a:r>
              <a:rPr lang="en-US" sz="1200" b="0" i="0" dirty="0">
                <a:solidFill>
                  <a:srgbClr val="1F2A33"/>
                </a:solidFill>
                <a:latin typeface="+mn-lt"/>
              </a:rPr>
              <a:t>on the quantum solver (QAOA, 16 qubits), same policy with no retraining; difference not yet significant</a:t>
            </a:r>
            <a:endParaRPr lang="en-US" sz="1200" dirty="0"/>
          </a:p>
        </p:txBody>
      </p:sp>
    </p:spTree>
    <p:extLst>
      <p:ext uri="{BB962C8B-B14F-4D97-AF65-F5344CB8AC3E}">
        <p14:creationId xmlns:p14="http://schemas.microsoft.com/office/powerpoint/2010/main" val="1462702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2585</TotalTime>
  <Words>273</Words>
  <Application>Microsoft Office PowerPoint</Application>
  <PresentationFormat>Widescreen</PresentationFormat>
  <Paragraphs>83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Honours Project Title  (as agreed upon by the Guide) Honours Project Phase1 Review1</vt:lpstr>
      <vt:lpstr>Outline</vt:lpstr>
      <vt:lpstr>Introduction</vt:lpstr>
      <vt:lpstr>Motivation</vt:lpstr>
      <vt:lpstr>Literature Review</vt:lpstr>
      <vt:lpstr>Research Gaps(Optional)</vt:lpstr>
      <vt:lpstr>Problem Statement</vt:lpstr>
      <vt:lpstr>Objectives</vt:lpstr>
      <vt:lpstr>Methodology Outline/ Architecture/ Design</vt:lpstr>
      <vt:lpstr>3-Semester Timeline</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Engineering</dc:title>
  <dc:creator>Arun Cyril</dc:creator>
  <cp:lastModifiedBy>IIIT-KOTTAYAM</cp:lastModifiedBy>
  <cp:revision>295</cp:revision>
  <dcterms:created xsi:type="dcterms:W3CDTF">2021-08-20T07:15:07Z</dcterms:created>
  <dcterms:modified xsi:type="dcterms:W3CDTF">2026-02-23T14:02:44Z</dcterms:modified>
</cp:coreProperties>
</file>